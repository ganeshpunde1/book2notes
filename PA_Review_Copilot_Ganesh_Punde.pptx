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69" r:id="rId3"/>
    <p:sldId id="270" r:id="rId4"/>
    <p:sldId id="271" r:id="rId5"/>
    <p:sldId id="256" r:id="rId6"/>
    <p:sldId id="257" r:id="rId7"/>
    <p:sldId id="258" r:id="rId8"/>
    <p:sldId id="259" r:id="rId9"/>
    <p:sldId id="260" r:id="rId10"/>
    <p:sldId id="261" r:id="rId11"/>
    <p:sldId id="263" r:id="rId12"/>
    <p:sldId id="264" r:id="rId13"/>
    <p:sldId id="265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59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Welcome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Business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Why Current Process Is Hard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Our Answer: PA Review 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Agentic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What Each Agent Does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Business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633A-9C13-0E52-C0C4-EF1181481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04D43-2EB6-E459-FF74-28B5F8A04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59D90-6B01-3A2F-D48D-B470F732E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3CEE0-A7F2-AE8F-29F7-9931147DD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44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4191000" cy="4191000"/>
          </a:xfrm>
          <a:prstGeom prst="ellipse">
            <a:avLst/>
          </a:prstGeom>
          <a:gradFill rotWithShape="1">
            <a:gsLst>
              <a:gs pos="0">
                <a:srgbClr val="4F8EF7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142707" y="3810000"/>
            <a:ext cx="4001293" cy="3048000"/>
          </a:xfrm>
          <a:prstGeom prst="ellipse">
            <a:avLst/>
          </a:prstGeom>
          <a:gradFill rotWithShape="1">
            <a:gsLst>
              <a:gs pos="0">
                <a:srgbClr val="4F8E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09600" y="685800"/>
            <a:ext cx="38893" cy="548640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4F8EF7"/>
              </a:gs>
              <a:gs pos="75000">
                <a:srgbClr val="4F8EF7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4400" y="1905000"/>
            <a:ext cx="3048000" cy="304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34400" y="1905000"/>
            <a:ext cx="3048000" cy="3048000"/>
          </a:xfrm>
          <a:prstGeom prst="ellipse">
            <a:avLst/>
          </a:prstGeom>
          <a:noFill/>
          <a:ln w="9525">
            <a:solidFill>
              <a:srgbClr val="4F8EF7">
                <a:alpha val="22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819754" y="2190354"/>
            <a:ext cx="2477293" cy="2477293"/>
          </a:xfrm>
          <a:prstGeom prst="ellipse">
            <a:avLst/>
          </a:prstGeom>
          <a:noFill/>
          <a:ln w="9525">
            <a:solidFill>
              <a:srgbClr val="4F8EF7">
                <a:alpha val="30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9105900" y="2476500"/>
            <a:ext cx="1905000" cy="1905000"/>
          </a:xfrm>
          <a:prstGeom prst="ellipse">
            <a:avLst/>
          </a:prstGeom>
          <a:noFill/>
          <a:ln w="9525">
            <a:solidFill>
              <a:srgbClr val="4F8EF7">
                <a:alpha val="40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981282" y="2428082"/>
            <a:ext cx="65881" cy="65881"/>
          </a:xfrm>
          <a:prstGeom prst="ellipse">
            <a:avLst/>
          </a:prstGeom>
          <a:solidFill>
            <a:srgbClr val="4F8EF7"/>
          </a:solidFill>
          <a:ln/>
          <a:effectLst>
            <a:outerShdw blurRad="57150" dist="50800" dir="16200000" algn="bl" rotWithShape="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1069638" y="2428082"/>
            <a:ext cx="65881" cy="65881"/>
          </a:xfrm>
          <a:prstGeom prst="ellipse">
            <a:avLst/>
          </a:prstGeom>
          <a:solidFill>
            <a:srgbClr val="4F8EF7"/>
          </a:solidFill>
          <a:ln/>
          <a:effectLst>
            <a:outerShdw blurRad="57150" dist="50800" dir="16200000" algn="bl" rotWithShape="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705256" y="3486548"/>
            <a:ext cx="65881" cy="65881"/>
          </a:xfrm>
          <a:prstGeom prst="ellipse">
            <a:avLst/>
          </a:prstGeom>
          <a:solidFill>
            <a:srgbClr val="4F8EF7"/>
          </a:solidFill>
          <a:ln/>
          <a:effectLst>
            <a:outerShdw blurRad="57150" dist="50800" dir="16200000" algn="bl" rotWithShape="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1345665" y="3581401"/>
            <a:ext cx="65881" cy="65881"/>
          </a:xfrm>
          <a:prstGeom prst="ellipse">
            <a:avLst/>
          </a:prstGeom>
          <a:solidFill>
            <a:srgbClr val="4F8EF7"/>
          </a:solidFill>
          <a:ln/>
          <a:effectLst>
            <a:outerShdw blurRad="57150" dist="50800" dir="16200000" algn="bl" rotWithShape="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9182894" y="4411465"/>
            <a:ext cx="65881" cy="65881"/>
          </a:xfrm>
          <a:prstGeom prst="ellipse">
            <a:avLst/>
          </a:prstGeom>
          <a:solidFill>
            <a:srgbClr val="4F8EF7"/>
          </a:solidFill>
          <a:ln/>
          <a:effectLst>
            <a:outerShdw blurRad="57150" dist="50800" dir="16200000" algn="bl" rotWithShape="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0868026" y="4448573"/>
            <a:ext cx="65881" cy="65881"/>
          </a:xfrm>
          <a:prstGeom prst="ellipse">
            <a:avLst/>
          </a:prstGeom>
          <a:solidFill>
            <a:srgbClr val="4F8EF7"/>
          </a:solidFill>
          <a:ln/>
          <a:effectLst>
            <a:outerShdw blurRad="57150" dist="50800" dir="16200000" algn="bl" rotWithShape="0">
              <a:srgbClr val="4F8EF7">
                <a:alpha val="75000"/>
              </a:srgbClr>
            </a:outerShdw>
          </a:effectLst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9296400" y="2667000"/>
            <a:ext cx="1524000" cy="1524000"/>
          </a:xfrm>
          <a:prstGeom prst="ellipse">
            <a:avLst/>
          </a:prstGeom>
          <a:noFill/>
          <a:ln w="9525">
            <a:solidFill>
              <a:schemeClr val="bg1">
                <a:alpha val="50000"/>
              </a:scheme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4075" y="3114675"/>
            <a:ext cx="628651" cy="6286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986963" y="3850085"/>
            <a:ext cx="156944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240"/>
              </a:lnSpc>
            </a:pPr>
            <a:r>
              <a:rPr lang="en-US" sz="827" b="1" kern="0" spc="149" dirty="0">
                <a:solidFill>
                  <a:srgbClr val="4F8EF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27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0528" y="2123888"/>
            <a:ext cx="176784" cy="176784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0213" y="4521311"/>
            <a:ext cx="176784" cy="1767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09532" y="5103615"/>
            <a:ext cx="2697737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00"/>
              </a:lnSpc>
            </a:pPr>
            <a:r>
              <a:rPr lang="en-US" sz="907" b="1" kern="0" spc="272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POWERED BY AWS BEDROCK</a:t>
            </a:r>
            <a:endParaRPr lang="en-US" sz="1600" b="1" dirty="0">
              <a:solidFill>
                <a:srgbClr val="0066FF"/>
              </a:solidFill>
            </a:endParaRPr>
          </a:p>
        </p:txBody>
      </p:sp>
      <p:sp>
        <p:nvSpPr>
          <p:cNvPr id="22" name="Text 15"/>
          <p:cNvSpPr/>
          <p:nvPr/>
        </p:nvSpPr>
        <p:spPr>
          <a:xfrm>
            <a:off x="0" y="6829227"/>
            <a:ext cx="12192000" cy="2877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4F8EF7">
                  <a:alpha val="70000"/>
                </a:srgbClr>
              </a:gs>
              <a:gs pos="70000">
                <a:srgbClr val="4F8E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11240293" y="0"/>
            <a:ext cx="951707" cy="951653"/>
          </a:xfrm>
          <a:prstGeom prst="ellipse">
            <a:avLst/>
          </a:prstGeom>
          <a:noFill/>
          <a:ln w="9525">
            <a:solidFill>
              <a:srgbClr val="4F8EF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11621288" y="0"/>
            <a:ext cx="570712" cy="570653"/>
          </a:xfrm>
          <a:prstGeom prst="ellipse">
            <a:avLst/>
          </a:prstGeom>
          <a:noFill/>
          <a:ln w="9525">
            <a:solidFill>
              <a:srgbClr val="4F8EF7">
                <a:alpha val="2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5" name="Text 18"/>
          <p:cNvSpPr/>
          <p:nvPr/>
        </p:nvSpPr>
        <p:spPr>
          <a:xfrm>
            <a:off x="914400" y="1687910"/>
            <a:ext cx="3507296" cy="305197"/>
          </a:xfrm>
          <a:prstGeom prst="roundRect">
            <a:avLst>
              <a:gd name="adj" fmla="val 62696"/>
            </a:avLst>
          </a:prstGeom>
          <a:solidFill>
            <a:srgbClr val="4F8EF7">
              <a:alpha val="10000"/>
            </a:srgbClr>
          </a:solidFill>
          <a:ln w="9525">
            <a:solidFill>
              <a:srgbClr val="4F8EF7">
                <a:alpha val="45000"/>
              </a:srgbClr>
            </a:solidFill>
          </a:ln>
        </p:spPr>
        <p:txBody>
          <a:bodyPr wrap="none" lIns="277667" tIns="47413" rIns="133773" bIns="47413" rtlCol="0" anchor="ctr"/>
          <a:lstStyle/>
          <a:p>
            <a:r>
              <a:rPr lang="en-US" sz="973" b="1" kern="0" spc="59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· AUGUST 2026</a:t>
            </a:r>
            <a:endParaRPr lang="en-US" sz="973" dirty="0">
              <a:solidFill>
                <a:srgbClr val="0066FF"/>
              </a:solidFill>
            </a:endParaRPr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5615" y="1752016"/>
            <a:ext cx="176784" cy="1767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4401" y="2260600"/>
            <a:ext cx="6801660" cy="151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671"/>
              </a:lnSpc>
              <a:spcAft>
                <a:spcPts val="453"/>
              </a:spcAft>
            </a:pPr>
            <a:r>
              <a:rPr lang="en-US" sz="5400" b="1" kern="0" spc="-40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 Review Copilot</a:t>
            </a:r>
            <a:endParaRPr lang="en-US" sz="5400" dirty="0">
              <a:solidFill>
                <a:srgbClr val="0066FF"/>
              </a:solidFill>
            </a:endParaRPr>
          </a:p>
        </p:txBody>
      </p:sp>
      <p:sp>
        <p:nvSpPr>
          <p:cNvPr id="28" name="Text 20"/>
          <p:cNvSpPr/>
          <p:nvPr/>
        </p:nvSpPr>
        <p:spPr>
          <a:xfrm>
            <a:off x="914400" y="3967957"/>
            <a:ext cx="3620293" cy="18455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9" name="Text 21"/>
          <p:cNvSpPr/>
          <p:nvPr/>
        </p:nvSpPr>
        <p:spPr>
          <a:xfrm>
            <a:off x="914400" y="4196358"/>
            <a:ext cx="7135075" cy="33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28"/>
              </a:lnSpc>
              <a:spcAft>
                <a:spcPts val="2707"/>
              </a:spcAft>
            </a:pPr>
            <a:r>
              <a:rPr lang="en-US" sz="1947" kern="0" spc="20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Review &amp; Design Recommendation</a:t>
            </a:r>
            <a:endParaRPr lang="en-US" sz="1947" dirty="0">
              <a:solidFill>
                <a:srgbClr val="0066FF"/>
              </a:solidFill>
            </a:endParaRPr>
          </a:p>
        </p:txBody>
      </p:sp>
      <p:sp>
        <p:nvSpPr>
          <p:cNvPr id="30" name="Text 22"/>
          <p:cNvSpPr/>
          <p:nvPr/>
        </p:nvSpPr>
        <p:spPr>
          <a:xfrm>
            <a:off x="914401" y="4873824"/>
            <a:ext cx="1788517" cy="296267"/>
          </a:xfrm>
          <a:prstGeom prst="roundRect">
            <a:avLst>
              <a:gd name="adj" fmla="val 194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265391" tIns="38947" rIns="115147" bIns="38947" rtlCol="0" anchor="ctr"/>
          <a:lstStyle/>
          <a:p>
            <a:r>
              <a:rPr lang="en-US" sz="1013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Ganesh Punde</a:t>
            </a:r>
            <a:endParaRPr lang="en-US" sz="1013" dirty="0">
              <a:solidFill>
                <a:srgbClr val="0066FF"/>
              </a:solidFill>
            </a:endParaRPr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0137" y="4933565"/>
            <a:ext cx="176784" cy="1767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655690" y="4998245"/>
            <a:ext cx="47228" cy="47228"/>
          </a:xfrm>
          <a:prstGeom prst="ellipse">
            <a:avLst/>
          </a:prstGeom>
          <a:solidFill>
            <a:srgbClr val="4F8EF7">
              <a:alpha val="7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3" name="Text 24"/>
          <p:cNvSpPr/>
          <p:nvPr/>
        </p:nvSpPr>
        <p:spPr>
          <a:xfrm>
            <a:off x="2816027" y="4873824"/>
            <a:ext cx="1150477" cy="296267"/>
          </a:xfrm>
          <a:prstGeom prst="roundRect">
            <a:avLst>
              <a:gd name="adj" fmla="val 194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265391" tIns="38947" rIns="115147" bIns="38947" rtlCol="0" anchor="ctr"/>
          <a:lstStyle/>
          <a:p>
            <a:r>
              <a:rPr lang="en-US" sz="1013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13" dirty="0">
              <a:solidFill>
                <a:srgbClr val="0066FF"/>
              </a:solidFill>
            </a:endParaRPr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1764" y="4933565"/>
            <a:ext cx="176784" cy="17678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057055" y="4998245"/>
            <a:ext cx="47228" cy="47228"/>
          </a:xfrm>
          <a:prstGeom prst="ellipse">
            <a:avLst/>
          </a:prstGeom>
          <a:solidFill>
            <a:srgbClr val="4F8EF7">
              <a:alpha val="7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6" name="Text 26"/>
          <p:cNvSpPr/>
          <p:nvPr/>
        </p:nvSpPr>
        <p:spPr>
          <a:xfrm>
            <a:off x="4217392" y="4873824"/>
            <a:ext cx="1740693" cy="296267"/>
          </a:xfrm>
          <a:prstGeom prst="roundRect">
            <a:avLst>
              <a:gd name="adj" fmla="val 194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265391" tIns="38947" rIns="115147" bIns="38947" rtlCol="0" anchor="ctr"/>
          <a:lstStyle/>
          <a:p>
            <a:r>
              <a:rPr lang="en-US" sz="1013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013" dirty="0">
              <a:solidFill>
                <a:srgbClr val="0066FF"/>
              </a:solidFill>
            </a:endParaRPr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03129" y="4933565"/>
            <a:ext cx="176784" cy="176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F8EF7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476707" y="0"/>
            <a:ext cx="1715293" cy="1715293"/>
          </a:xfrm>
          <a:prstGeom prst="ellipse">
            <a:avLst/>
          </a:prstGeom>
          <a:gradFill rotWithShape="1">
            <a:gsLst>
              <a:gs pos="0">
                <a:srgbClr val="4F8EF7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14340" y="469900"/>
            <a:ext cx="28773" cy="1383512"/>
          </a:xfrm>
          <a:custGeom>
            <a:avLst/>
            <a:gdLst/>
            <a:ahLst/>
            <a:cxnLst/>
            <a:rect l="l" t="t" r="r" b="b"/>
            <a:pathLst>
              <a:path w="21580" h="10376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017542"/>
                </a:lnTo>
                <a:lnTo>
                  <a:pt x="18883" y="1014777"/>
                </a:lnTo>
                <a:lnTo>
                  <a:pt x="16185" y="1011683"/>
                </a:lnTo>
                <a:lnTo>
                  <a:pt x="13488" y="1008186"/>
                </a:lnTo>
                <a:lnTo>
                  <a:pt x="10790" y="1004175"/>
                </a:lnTo>
                <a:lnTo>
                  <a:pt x="8093" y="999463"/>
                </a:lnTo>
                <a:lnTo>
                  <a:pt x="5395" y="993686"/>
                </a:lnTo>
                <a:lnTo>
                  <a:pt x="2698" y="985916"/>
                </a:lnTo>
                <a:lnTo>
                  <a:pt x="0" y="966514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80920" y="469900"/>
            <a:ext cx="28773" cy="1383512"/>
          </a:xfrm>
          <a:custGeom>
            <a:avLst/>
            <a:gdLst/>
            <a:ahLst/>
            <a:cxnLst/>
            <a:rect l="l" t="t" r="r" b="b"/>
            <a:pathLst>
              <a:path w="21580" h="10376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017542"/>
                </a:lnTo>
                <a:lnTo>
                  <a:pt x="18883" y="1014777"/>
                </a:lnTo>
                <a:lnTo>
                  <a:pt x="16185" y="1011683"/>
                </a:lnTo>
                <a:lnTo>
                  <a:pt x="13488" y="1008186"/>
                </a:lnTo>
                <a:lnTo>
                  <a:pt x="10790" y="1004175"/>
                </a:lnTo>
                <a:lnTo>
                  <a:pt x="8093" y="999463"/>
                </a:lnTo>
                <a:lnTo>
                  <a:pt x="5395" y="993686"/>
                </a:lnTo>
                <a:lnTo>
                  <a:pt x="2698" y="985916"/>
                </a:lnTo>
                <a:lnTo>
                  <a:pt x="0" y="966514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14340" y="1993900"/>
            <a:ext cx="28773" cy="1383512"/>
          </a:xfrm>
          <a:custGeom>
            <a:avLst/>
            <a:gdLst/>
            <a:ahLst/>
            <a:cxnLst/>
            <a:rect l="l" t="t" r="r" b="b"/>
            <a:pathLst>
              <a:path w="21580" h="10376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017542"/>
                </a:lnTo>
                <a:lnTo>
                  <a:pt x="18883" y="1014777"/>
                </a:lnTo>
                <a:lnTo>
                  <a:pt x="16185" y="1011683"/>
                </a:lnTo>
                <a:lnTo>
                  <a:pt x="13488" y="1008186"/>
                </a:lnTo>
                <a:lnTo>
                  <a:pt x="10790" y="1004175"/>
                </a:lnTo>
                <a:lnTo>
                  <a:pt x="8093" y="999463"/>
                </a:lnTo>
                <a:lnTo>
                  <a:pt x="5395" y="993686"/>
                </a:lnTo>
                <a:lnTo>
                  <a:pt x="2698" y="985916"/>
                </a:lnTo>
                <a:lnTo>
                  <a:pt x="0" y="966514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80920" y="1993900"/>
            <a:ext cx="28773" cy="1383512"/>
          </a:xfrm>
          <a:custGeom>
            <a:avLst/>
            <a:gdLst/>
            <a:ahLst/>
            <a:cxnLst/>
            <a:rect l="l" t="t" r="r" b="b"/>
            <a:pathLst>
              <a:path w="21580" h="10376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017542"/>
                </a:lnTo>
                <a:lnTo>
                  <a:pt x="18883" y="1014777"/>
                </a:lnTo>
                <a:lnTo>
                  <a:pt x="16185" y="1011683"/>
                </a:lnTo>
                <a:lnTo>
                  <a:pt x="13488" y="1008186"/>
                </a:lnTo>
                <a:lnTo>
                  <a:pt x="10790" y="1004175"/>
                </a:lnTo>
                <a:lnTo>
                  <a:pt x="8093" y="999463"/>
                </a:lnTo>
                <a:lnTo>
                  <a:pt x="5395" y="993686"/>
                </a:lnTo>
                <a:lnTo>
                  <a:pt x="2698" y="985916"/>
                </a:lnTo>
                <a:lnTo>
                  <a:pt x="0" y="966514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14340" y="3517900"/>
            <a:ext cx="28773" cy="1383512"/>
          </a:xfrm>
          <a:custGeom>
            <a:avLst/>
            <a:gdLst/>
            <a:ahLst/>
            <a:cxnLst/>
            <a:rect l="l" t="t" r="r" b="b"/>
            <a:pathLst>
              <a:path w="21580" h="10376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017542"/>
                </a:lnTo>
                <a:lnTo>
                  <a:pt x="18883" y="1014777"/>
                </a:lnTo>
                <a:lnTo>
                  <a:pt x="16185" y="1011683"/>
                </a:lnTo>
                <a:lnTo>
                  <a:pt x="13488" y="1008186"/>
                </a:lnTo>
                <a:lnTo>
                  <a:pt x="10790" y="1004175"/>
                </a:lnTo>
                <a:lnTo>
                  <a:pt x="8093" y="999463"/>
                </a:lnTo>
                <a:lnTo>
                  <a:pt x="5395" y="993686"/>
                </a:lnTo>
                <a:lnTo>
                  <a:pt x="2698" y="985916"/>
                </a:lnTo>
                <a:lnTo>
                  <a:pt x="0" y="966514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80920" y="3517900"/>
            <a:ext cx="28773" cy="1383512"/>
          </a:xfrm>
          <a:custGeom>
            <a:avLst/>
            <a:gdLst/>
            <a:ahLst/>
            <a:cxnLst/>
            <a:rect l="l" t="t" r="r" b="b"/>
            <a:pathLst>
              <a:path w="21580" h="10376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017542"/>
                </a:lnTo>
                <a:lnTo>
                  <a:pt x="18883" y="1014777"/>
                </a:lnTo>
                <a:lnTo>
                  <a:pt x="16185" y="1011683"/>
                </a:lnTo>
                <a:lnTo>
                  <a:pt x="13488" y="1008186"/>
                </a:lnTo>
                <a:lnTo>
                  <a:pt x="10790" y="1004175"/>
                </a:lnTo>
                <a:lnTo>
                  <a:pt x="8093" y="999463"/>
                </a:lnTo>
                <a:lnTo>
                  <a:pt x="5395" y="993686"/>
                </a:lnTo>
                <a:lnTo>
                  <a:pt x="2698" y="985916"/>
                </a:lnTo>
                <a:lnTo>
                  <a:pt x="0" y="966514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14340" y="5041900"/>
            <a:ext cx="28773" cy="1383512"/>
          </a:xfrm>
          <a:custGeom>
            <a:avLst/>
            <a:gdLst/>
            <a:ahLst/>
            <a:cxnLst/>
            <a:rect l="l" t="t" r="r" b="b"/>
            <a:pathLst>
              <a:path w="21580" h="10376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017542"/>
                </a:lnTo>
                <a:lnTo>
                  <a:pt x="18883" y="1014777"/>
                </a:lnTo>
                <a:lnTo>
                  <a:pt x="16185" y="1011683"/>
                </a:lnTo>
                <a:lnTo>
                  <a:pt x="13488" y="1008186"/>
                </a:lnTo>
                <a:lnTo>
                  <a:pt x="10790" y="1004175"/>
                </a:lnTo>
                <a:lnTo>
                  <a:pt x="8093" y="999463"/>
                </a:lnTo>
                <a:lnTo>
                  <a:pt x="5395" y="993686"/>
                </a:lnTo>
                <a:lnTo>
                  <a:pt x="2698" y="985916"/>
                </a:lnTo>
                <a:lnTo>
                  <a:pt x="0" y="966514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80920" y="5041900"/>
            <a:ext cx="28773" cy="1383512"/>
          </a:xfrm>
          <a:custGeom>
            <a:avLst/>
            <a:gdLst/>
            <a:ahLst/>
            <a:cxnLst/>
            <a:rect l="l" t="t" r="r" b="b"/>
            <a:pathLst>
              <a:path w="21580" h="10376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017542"/>
                </a:lnTo>
                <a:lnTo>
                  <a:pt x="18883" y="1014777"/>
                </a:lnTo>
                <a:lnTo>
                  <a:pt x="16185" y="1011683"/>
                </a:lnTo>
                <a:lnTo>
                  <a:pt x="13488" y="1008186"/>
                </a:lnTo>
                <a:lnTo>
                  <a:pt x="10790" y="1004175"/>
                </a:lnTo>
                <a:lnTo>
                  <a:pt x="8093" y="999463"/>
                </a:lnTo>
                <a:lnTo>
                  <a:pt x="5395" y="993686"/>
                </a:lnTo>
                <a:lnTo>
                  <a:pt x="2698" y="985916"/>
                </a:lnTo>
                <a:lnTo>
                  <a:pt x="0" y="966514"/>
                </a:lnTo>
                <a:close/>
              </a:path>
            </a:pathLst>
          </a:custGeom>
          <a:solidFill>
            <a:srgbClr val="4F8EF7"/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2294" y="553640"/>
            <a:ext cx="47228" cy="419893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4F8EF7"/>
              </a:gs>
              <a:gs pos="100000">
                <a:srgbClr val="1A56C4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3270" y="496094"/>
            <a:ext cx="1880711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0"/>
              </a:lnSpc>
            </a:pPr>
            <a:r>
              <a:rPr lang="en-US" sz="973" b="1" kern="0" spc="175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OVERVIEW</a:t>
            </a:r>
            <a:endParaRPr lang="en-US" sz="973" dirty="0"/>
          </a:p>
        </p:txBody>
      </p:sp>
      <p:sp>
        <p:nvSpPr>
          <p:cNvPr id="14" name="Text 12"/>
          <p:cNvSpPr/>
          <p:nvPr/>
        </p:nvSpPr>
        <p:spPr>
          <a:xfrm>
            <a:off x="753269" y="738981"/>
            <a:ext cx="1795224" cy="520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03"/>
              </a:lnSpc>
            </a:pPr>
            <a:r>
              <a:rPr lang="en-US" sz="3907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3907" dirty="0">
              <a:solidFill>
                <a:srgbClr val="0066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2293" y="1566267"/>
            <a:ext cx="2572147" cy="1837063"/>
          </a:xfrm>
          <a:prstGeom prst="roundRect">
            <a:avLst>
              <a:gd name="adj" fmla="val 6268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lIns="171027" tIns="191347" rIns="171027" bIns="191347" rtlCol="0" anchor="t"/>
          <a:lstStyle/>
          <a:p>
            <a:pPr algn="ctr"/>
            <a:r>
              <a:rPr lang="en-US" sz="16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Review Copilot</a:t>
            </a:r>
            <a:br>
              <a:rPr sz="1600" b="1" dirty="0">
                <a:solidFill>
                  <a:srgbClr val="0066FF"/>
                </a:solidFill>
              </a:rPr>
            </a:br>
            <a:r>
              <a:rPr lang="en-US" sz="16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Architecture Review</a:t>
            </a:r>
            <a:br>
              <a:rPr sz="1600" b="1" dirty="0">
                <a:solidFill>
                  <a:srgbClr val="0066FF"/>
                </a:solidFill>
              </a:rPr>
            </a:br>
            <a:r>
              <a:rPr lang="en-US" sz="16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600" b="1" dirty="0">
              <a:solidFill>
                <a:srgbClr val="0066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50725" y="2588221"/>
            <a:ext cx="685800" cy="685800"/>
          </a:xfrm>
          <a:prstGeom prst="roundRect">
            <a:avLst>
              <a:gd name="adj" fmla="val 24938"/>
            </a:avLst>
          </a:prstGeom>
          <a:solidFill>
            <a:schemeClr val="bg1"/>
          </a:solidFill>
          <a:ln w="9525">
            <a:solidFill>
              <a:srgbClr val="4F8EF7">
                <a:alpha val="40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0749" y="2773945"/>
            <a:ext cx="285751" cy="28575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72294" y="6346627"/>
            <a:ext cx="267493" cy="10120"/>
          </a:xfrm>
          <a:prstGeom prst="rect">
            <a:avLst/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15989" y="6265465"/>
            <a:ext cx="67274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TOPICS</a:t>
            </a:r>
            <a:endParaRPr lang="en-US" sz="907" dirty="0"/>
          </a:p>
        </p:txBody>
      </p:sp>
      <p:sp>
        <p:nvSpPr>
          <p:cNvPr id="20" name="Text 17"/>
          <p:cNvSpPr/>
          <p:nvPr/>
        </p:nvSpPr>
        <p:spPr>
          <a:xfrm>
            <a:off x="1603772" y="6346627"/>
            <a:ext cx="267493" cy="10120"/>
          </a:xfrm>
          <a:prstGeom prst="rect">
            <a:avLst/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601640" y="457200"/>
            <a:ext cx="3951485" cy="1408907"/>
          </a:xfrm>
          <a:prstGeom prst="roundRect">
            <a:avLst>
              <a:gd name="adj" fmla="val 6731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758198" y="1082874"/>
            <a:ext cx="18794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240"/>
              </a:lnSpc>
            </a:pPr>
            <a:r>
              <a:rPr lang="en-US" sz="827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827" dirty="0"/>
          </a:p>
        </p:txBody>
      </p:sp>
      <p:sp>
        <p:nvSpPr>
          <p:cNvPr id="23" name="Text 20"/>
          <p:cNvSpPr/>
          <p:nvPr/>
        </p:nvSpPr>
        <p:spPr>
          <a:xfrm>
            <a:off x="4071343" y="1066007"/>
            <a:ext cx="18455" cy="191293"/>
          </a:xfrm>
          <a:prstGeom prst="roundRect">
            <a:avLst>
              <a:gd name="adj" fmla="val 100932"/>
            </a:avLst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223544" y="980480"/>
            <a:ext cx="362347" cy="362347"/>
          </a:xfrm>
          <a:prstGeom prst="roundRect">
            <a:avLst>
              <a:gd name="adj" fmla="val 23834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6225" y="1073161"/>
            <a:ext cx="176784" cy="1767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719638" y="1064221"/>
            <a:ext cx="1705868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Context</a:t>
            </a:r>
            <a:endParaRPr lang="en-US" sz="1280" dirty="0">
              <a:solidFill>
                <a:srgbClr val="0066FF"/>
              </a:solidFill>
            </a:endParaRPr>
          </a:p>
        </p:txBody>
      </p:sp>
      <p:sp>
        <p:nvSpPr>
          <p:cNvPr id="27" name="Text 23"/>
          <p:cNvSpPr/>
          <p:nvPr/>
        </p:nvSpPr>
        <p:spPr>
          <a:xfrm>
            <a:off x="7668220" y="457200"/>
            <a:ext cx="3951485" cy="1408907"/>
          </a:xfrm>
          <a:prstGeom prst="roundRect">
            <a:avLst>
              <a:gd name="adj" fmla="val 6731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7824778" y="1082874"/>
            <a:ext cx="18794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240"/>
              </a:lnSpc>
            </a:pPr>
            <a:r>
              <a:rPr lang="en-US" sz="827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827" dirty="0"/>
          </a:p>
        </p:txBody>
      </p:sp>
      <p:sp>
        <p:nvSpPr>
          <p:cNvPr id="29" name="Text 25"/>
          <p:cNvSpPr/>
          <p:nvPr/>
        </p:nvSpPr>
        <p:spPr>
          <a:xfrm>
            <a:off x="8137922" y="1066007"/>
            <a:ext cx="18455" cy="191293"/>
          </a:xfrm>
          <a:prstGeom prst="roundRect">
            <a:avLst>
              <a:gd name="adj" fmla="val 100932"/>
            </a:avLst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0" name="Text 26"/>
          <p:cNvSpPr/>
          <p:nvPr/>
        </p:nvSpPr>
        <p:spPr>
          <a:xfrm>
            <a:off x="8290124" y="980480"/>
            <a:ext cx="362347" cy="362347"/>
          </a:xfrm>
          <a:prstGeom prst="roundRect">
            <a:avLst>
              <a:gd name="adj" fmla="val 23834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805" y="1073161"/>
            <a:ext cx="176784" cy="1767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786217" y="1064221"/>
            <a:ext cx="1659811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</a:p>
        </p:txBody>
      </p:sp>
      <p:sp>
        <p:nvSpPr>
          <p:cNvPr id="33" name="Text 28"/>
          <p:cNvSpPr/>
          <p:nvPr/>
        </p:nvSpPr>
        <p:spPr>
          <a:xfrm>
            <a:off x="3601640" y="1981200"/>
            <a:ext cx="3951485" cy="1408907"/>
          </a:xfrm>
          <a:prstGeom prst="roundRect">
            <a:avLst>
              <a:gd name="adj" fmla="val 6731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4" name="Text 29"/>
          <p:cNvSpPr/>
          <p:nvPr/>
        </p:nvSpPr>
        <p:spPr>
          <a:xfrm>
            <a:off x="3758198" y="2606874"/>
            <a:ext cx="18794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240"/>
              </a:lnSpc>
            </a:pPr>
            <a:r>
              <a:rPr lang="en-US" sz="827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827" dirty="0"/>
          </a:p>
        </p:txBody>
      </p:sp>
      <p:sp>
        <p:nvSpPr>
          <p:cNvPr id="35" name="Text 30"/>
          <p:cNvSpPr/>
          <p:nvPr/>
        </p:nvSpPr>
        <p:spPr>
          <a:xfrm>
            <a:off x="4071343" y="2590007"/>
            <a:ext cx="18455" cy="191293"/>
          </a:xfrm>
          <a:prstGeom prst="roundRect">
            <a:avLst>
              <a:gd name="adj" fmla="val 100932"/>
            </a:avLst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6" name="Text 31"/>
          <p:cNvSpPr/>
          <p:nvPr/>
        </p:nvSpPr>
        <p:spPr>
          <a:xfrm>
            <a:off x="4223544" y="2504480"/>
            <a:ext cx="362347" cy="362347"/>
          </a:xfrm>
          <a:prstGeom prst="roundRect">
            <a:avLst>
              <a:gd name="adj" fmla="val 23834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16225" y="2597161"/>
            <a:ext cx="176784" cy="1767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719637" y="2588221"/>
            <a:ext cx="2674819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Options Overview</a:t>
            </a:r>
            <a:endParaRPr lang="en-US" sz="1280" dirty="0">
              <a:solidFill>
                <a:srgbClr val="0066FF"/>
              </a:solidFill>
            </a:endParaRPr>
          </a:p>
        </p:txBody>
      </p:sp>
      <p:sp>
        <p:nvSpPr>
          <p:cNvPr id="39" name="Text 33"/>
          <p:cNvSpPr/>
          <p:nvPr/>
        </p:nvSpPr>
        <p:spPr>
          <a:xfrm>
            <a:off x="7668220" y="1981200"/>
            <a:ext cx="3951485" cy="1408907"/>
          </a:xfrm>
          <a:prstGeom prst="roundRect">
            <a:avLst>
              <a:gd name="adj" fmla="val 6731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0" name="Text 34"/>
          <p:cNvSpPr/>
          <p:nvPr/>
        </p:nvSpPr>
        <p:spPr>
          <a:xfrm>
            <a:off x="7824778" y="2606874"/>
            <a:ext cx="18794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240"/>
              </a:lnSpc>
            </a:pPr>
            <a:r>
              <a:rPr lang="en-US" sz="827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827" dirty="0"/>
          </a:p>
        </p:txBody>
      </p:sp>
      <p:sp>
        <p:nvSpPr>
          <p:cNvPr id="41" name="Text 35"/>
          <p:cNvSpPr/>
          <p:nvPr/>
        </p:nvSpPr>
        <p:spPr>
          <a:xfrm>
            <a:off x="8137922" y="2590007"/>
            <a:ext cx="18455" cy="191293"/>
          </a:xfrm>
          <a:prstGeom prst="roundRect">
            <a:avLst>
              <a:gd name="adj" fmla="val 100932"/>
            </a:avLst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2" name="Text 36"/>
          <p:cNvSpPr/>
          <p:nvPr/>
        </p:nvSpPr>
        <p:spPr>
          <a:xfrm>
            <a:off x="8290124" y="2504480"/>
            <a:ext cx="362347" cy="362347"/>
          </a:xfrm>
          <a:prstGeom prst="roundRect">
            <a:avLst>
              <a:gd name="adj" fmla="val 23834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805" y="2597161"/>
            <a:ext cx="176784" cy="17678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786218" y="2588221"/>
            <a:ext cx="2674381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Microservice Flow</a:t>
            </a:r>
            <a:endParaRPr lang="en-US" sz="1280" dirty="0">
              <a:solidFill>
                <a:srgbClr val="0066FF"/>
              </a:solidFill>
            </a:endParaRPr>
          </a:p>
        </p:txBody>
      </p:sp>
      <p:sp>
        <p:nvSpPr>
          <p:cNvPr id="45" name="Text 38"/>
          <p:cNvSpPr/>
          <p:nvPr/>
        </p:nvSpPr>
        <p:spPr>
          <a:xfrm>
            <a:off x="3601640" y="3505200"/>
            <a:ext cx="3951485" cy="1408907"/>
          </a:xfrm>
          <a:prstGeom prst="roundRect">
            <a:avLst>
              <a:gd name="adj" fmla="val 6731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6" name="Text 39"/>
          <p:cNvSpPr/>
          <p:nvPr/>
        </p:nvSpPr>
        <p:spPr>
          <a:xfrm>
            <a:off x="3758198" y="4130874"/>
            <a:ext cx="18794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240"/>
              </a:lnSpc>
            </a:pPr>
            <a:r>
              <a:rPr lang="en-US" sz="827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827" dirty="0"/>
          </a:p>
        </p:txBody>
      </p:sp>
      <p:sp>
        <p:nvSpPr>
          <p:cNvPr id="47" name="Text 40"/>
          <p:cNvSpPr/>
          <p:nvPr/>
        </p:nvSpPr>
        <p:spPr>
          <a:xfrm>
            <a:off x="4071343" y="4114007"/>
            <a:ext cx="18455" cy="191293"/>
          </a:xfrm>
          <a:prstGeom prst="roundRect">
            <a:avLst>
              <a:gd name="adj" fmla="val 100932"/>
            </a:avLst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8" name="Text 41"/>
          <p:cNvSpPr/>
          <p:nvPr/>
        </p:nvSpPr>
        <p:spPr>
          <a:xfrm>
            <a:off x="4223544" y="4028480"/>
            <a:ext cx="362347" cy="362347"/>
          </a:xfrm>
          <a:prstGeom prst="roundRect">
            <a:avLst>
              <a:gd name="adj" fmla="val 23834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6225" y="4121161"/>
            <a:ext cx="176784" cy="17678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4719637" y="4112221"/>
            <a:ext cx="2186960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</a:t>
            </a:r>
            <a:endParaRPr lang="en-US" sz="1280" dirty="0">
              <a:solidFill>
                <a:srgbClr val="0066FF"/>
              </a:solidFill>
            </a:endParaRPr>
          </a:p>
        </p:txBody>
      </p:sp>
      <p:sp>
        <p:nvSpPr>
          <p:cNvPr id="51" name="Text 43"/>
          <p:cNvSpPr/>
          <p:nvPr/>
        </p:nvSpPr>
        <p:spPr>
          <a:xfrm>
            <a:off x="7668220" y="3505200"/>
            <a:ext cx="3951485" cy="1408907"/>
          </a:xfrm>
          <a:prstGeom prst="roundRect">
            <a:avLst>
              <a:gd name="adj" fmla="val 6731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2" name="Text 44"/>
          <p:cNvSpPr/>
          <p:nvPr/>
        </p:nvSpPr>
        <p:spPr>
          <a:xfrm>
            <a:off x="7824778" y="4130874"/>
            <a:ext cx="18794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240"/>
              </a:lnSpc>
            </a:pPr>
            <a:r>
              <a:rPr lang="en-US" sz="827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827" dirty="0"/>
          </a:p>
        </p:txBody>
      </p:sp>
      <p:sp>
        <p:nvSpPr>
          <p:cNvPr id="53" name="Text 45"/>
          <p:cNvSpPr/>
          <p:nvPr/>
        </p:nvSpPr>
        <p:spPr>
          <a:xfrm>
            <a:off x="8137922" y="4114007"/>
            <a:ext cx="18455" cy="191293"/>
          </a:xfrm>
          <a:prstGeom prst="roundRect">
            <a:avLst>
              <a:gd name="adj" fmla="val 100932"/>
            </a:avLst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4" name="Text 46"/>
          <p:cNvSpPr/>
          <p:nvPr/>
        </p:nvSpPr>
        <p:spPr>
          <a:xfrm>
            <a:off x="8290124" y="4028480"/>
            <a:ext cx="362347" cy="362347"/>
          </a:xfrm>
          <a:prstGeom prst="roundRect">
            <a:avLst>
              <a:gd name="adj" fmla="val 23834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805" y="4121161"/>
            <a:ext cx="176784" cy="176784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8786217" y="4112221"/>
            <a:ext cx="1525131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80" dirty="0">
              <a:solidFill>
                <a:srgbClr val="0066FF"/>
              </a:solidFill>
            </a:endParaRPr>
          </a:p>
        </p:txBody>
      </p:sp>
      <p:sp>
        <p:nvSpPr>
          <p:cNvPr id="57" name="Text 48"/>
          <p:cNvSpPr/>
          <p:nvPr/>
        </p:nvSpPr>
        <p:spPr>
          <a:xfrm>
            <a:off x="3601640" y="5029200"/>
            <a:ext cx="3951485" cy="1408907"/>
          </a:xfrm>
          <a:prstGeom prst="roundRect">
            <a:avLst>
              <a:gd name="adj" fmla="val 6731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8" name="Text 49"/>
          <p:cNvSpPr/>
          <p:nvPr/>
        </p:nvSpPr>
        <p:spPr>
          <a:xfrm>
            <a:off x="3758198" y="5654874"/>
            <a:ext cx="18794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240"/>
              </a:lnSpc>
            </a:pPr>
            <a:r>
              <a:rPr lang="en-US" sz="827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827" dirty="0"/>
          </a:p>
        </p:txBody>
      </p:sp>
      <p:sp>
        <p:nvSpPr>
          <p:cNvPr id="59" name="Text 50"/>
          <p:cNvSpPr/>
          <p:nvPr/>
        </p:nvSpPr>
        <p:spPr>
          <a:xfrm>
            <a:off x="4071343" y="5638007"/>
            <a:ext cx="18455" cy="191293"/>
          </a:xfrm>
          <a:prstGeom prst="roundRect">
            <a:avLst>
              <a:gd name="adj" fmla="val 100932"/>
            </a:avLst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0" name="Text 51"/>
          <p:cNvSpPr/>
          <p:nvPr/>
        </p:nvSpPr>
        <p:spPr>
          <a:xfrm>
            <a:off x="4223544" y="5552480"/>
            <a:ext cx="362347" cy="362347"/>
          </a:xfrm>
          <a:prstGeom prst="roundRect">
            <a:avLst>
              <a:gd name="adj" fmla="val 23834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6225" y="5645161"/>
            <a:ext cx="176784" cy="176784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4719638" y="5636221"/>
            <a:ext cx="941884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80" dirty="0">
              <a:solidFill>
                <a:srgbClr val="0066FF"/>
              </a:solidFill>
            </a:endParaRPr>
          </a:p>
        </p:txBody>
      </p:sp>
      <p:sp>
        <p:nvSpPr>
          <p:cNvPr id="63" name="Text 53"/>
          <p:cNvSpPr/>
          <p:nvPr/>
        </p:nvSpPr>
        <p:spPr>
          <a:xfrm>
            <a:off x="7668220" y="5029200"/>
            <a:ext cx="3951485" cy="1408907"/>
          </a:xfrm>
          <a:prstGeom prst="roundRect">
            <a:avLst>
              <a:gd name="adj" fmla="val 6731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4" name="Text 54"/>
          <p:cNvSpPr/>
          <p:nvPr/>
        </p:nvSpPr>
        <p:spPr>
          <a:xfrm>
            <a:off x="7824778" y="5654874"/>
            <a:ext cx="187940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1240"/>
              </a:lnSpc>
            </a:pPr>
            <a:r>
              <a:rPr lang="en-US" sz="827" b="1" dirty="0">
                <a:solidFill>
                  <a:srgbClr val="4F8E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827" dirty="0"/>
          </a:p>
        </p:txBody>
      </p:sp>
      <p:sp>
        <p:nvSpPr>
          <p:cNvPr id="65" name="Text 55"/>
          <p:cNvSpPr/>
          <p:nvPr/>
        </p:nvSpPr>
        <p:spPr>
          <a:xfrm>
            <a:off x="8137922" y="5638007"/>
            <a:ext cx="18455" cy="191293"/>
          </a:xfrm>
          <a:prstGeom prst="roundRect">
            <a:avLst>
              <a:gd name="adj" fmla="val 100932"/>
            </a:avLst>
          </a:prstGeom>
          <a:solidFill>
            <a:srgbClr val="4F8EF7">
              <a:alpha val="3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6" name="Text 56"/>
          <p:cNvSpPr/>
          <p:nvPr/>
        </p:nvSpPr>
        <p:spPr>
          <a:xfrm>
            <a:off x="8290124" y="5552480"/>
            <a:ext cx="362347" cy="362347"/>
          </a:xfrm>
          <a:prstGeom prst="roundRect">
            <a:avLst>
              <a:gd name="adj" fmla="val 23834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20000"/>
              </a:srgbClr>
            </a:solidFill>
          </a:ln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805" y="5645161"/>
            <a:ext cx="176784" cy="176784"/>
          </a:xfrm>
          <a:prstGeom prst="rect">
            <a:avLst/>
          </a:prstGeom>
        </p:spPr>
      </p:pic>
      <p:sp>
        <p:nvSpPr>
          <p:cNvPr id="68" name="Text 57"/>
          <p:cNvSpPr/>
          <p:nvPr/>
        </p:nvSpPr>
        <p:spPr>
          <a:xfrm>
            <a:off x="8786218" y="5636221"/>
            <a:ext cx="498991" cy="194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36"/>
              </a:lnSpc>
            </a:pPr>
            <a:r>
              <a:rPr lang="en-US" sz="128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280" dirty="0">
              <a:solidFill>
                <a:srgbClr val="0066FF"/>
              </a:solidFill>
            </a:endParaRPr>
          </a:p>
        </p:txBody>
      </p:sp>
      <p:sp>
        <p:nvSpPr>
          <p:cNvPr id="69" name="Text 58"/>
          <p:cNvSpPr/>
          <p:nvPr/>
        </p:nvSpPr>
        <p:spPr>
          <a:xfrm>
            <a:off x="0" y="6829227"/>
            <a:ext cx="12192000" cy="2877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4F8EF7"/>
              </a:gs>
              <a:gs pos="70000">
                <a:srgbClr val="1A56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587595" y="-252085"/>
            <a:ext cx="12192000" cy="68580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4993" y="1540272"/>
            <a:ext cx="5402656" cy="28773"/>
          </a:xfrm>
          <a:custGeom>
            <a:avLst/>
            <a:gdLst/>
            <a:ahLst/>
            <a:cxnLst/>
            <a:rect l="l" t="t" r="r" b="b"/>
            <a:pathLst>
              <a:path w="4051992" h="21580">
                <a:moveTo>
                  <a:pt x="100330" y="0"/>
                </a:moveTo>
                <a:lnTo>
                  <a:pt x="3951662" y="0"/>
                </a:lnTo>
                <a:lnTo>
                  <a:pt x="3974771" y="2698"/>
                </a:lnTo>
                <a:lnTo>
                  <a:pt x="3984119" y="5395"/>
                </a:lnTo>
                <a:lnTo>
                  <a:pt x="3991138" y="8093"/>
                </a:lnTo>
                <a:lnTo>
                  <a:pt x="3996925" y="10790"/>
                </a:lnTo>
                <a:lnTo>
                  <a:pt x="4001907" y="13488"/>
                </a:lnTo>
                <a:lnTo>
                  <a:pt x="4006304" y="16185"/>
                </a:lnTo>
                <a:lnTo>
                  <a:pt x="4010249" y="18883"/>
                </a:lnTo>
                <a:lnTo>
                  <a:pt x="40138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4F8EF7"/>
              </a:gs>
              <a:gs pos="100000">
                <a:srgbClr val="4F8EF7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653363" y="1540272"/>
            <a:ext cx="1334288" cy="1334288"/>
          </a:xfrm>
          <a:prstGeom prst="rect">
            <a:avLst/>
          </a:prstGeom>
          <a:gradFill rotWithShape="1">
            <a:gsLst>
              <a:gs pos="0">
                <a:srgbClr val="4F8EF7">
                  <a:alpha val="7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04347" y="1540272"/>
            <a:ext cx="5402656" cy="28773"/>
          </a:xfrm>
          <a:custGeom>
            <a:avLst/>
            <a:gdLst/>
            <a:ahLst/>
            <a:cxnLst/>
            <a:rect l="l" t="t" r="r" b="b"/>
            <a:pathLst>
              <a:path w="4051992" h="21580">
                <a:moveTo>
                  <a:pt x="100330" y="0"/>
                </a:moveTo>
                <a:lnTo>
                  <a:pt x="3951662" y="0"/>
                </a:lnTo>
                <a:lnTo>
                  <a:pt x="3974771" y="2698"/>
                </a:lnTo>
                <a:lnTo>
                  <a:pt x="3984119" y="5395"/>
                </a:lnTo>
                <a:lnTo>
                  <a:pt x="3991138" y="8093"/>
                </a:lnTo>
                <a:lnTo>
                  <a:pt x="3996925" y="10790"/>
                </a:lnTo>
                <a:lnTo>
                  <a:pt x="4001907" y="13488"/>
                </a:lnTo>
                <a:lnTo>
                  <a:pt x="4006304" y="16185"/>
                </a:lnTo>
                <a:lnTo>
                  <a:pt x="4010249" y="18883"/>
                </a:lnTo>
                <a:lnTo>
                  <a:pt x="40138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4F8EF7"/>
              </a:gs>
              <a:gs pos="100000">
                <a:srgbClr val="4F8EF7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72716" y="1540272"/>
            <a:ext cx="1334288" cy="1334288"/>
          </a:xfrm>
          <a:prstGeom prst="rect">
            <a:avLst/>
          </a:prstGeom>
          <a:gradFill rotWithShape="1">
            <a:gsLst>
              <a:gs pos="0">
                <a:srgbClr val="4F8EF7">
                  <a:alpha val="7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84993" y="3849092"/>
            <a:ext cx="5402656" cy="28773"/>
          </a:xfrm>
          <a:custGeom>
            <a:avLst/>
            <a:gdLst/>
            <a:ahLst/>
            <a:cxnLst/>
            <a:rect l="l" t="t" r="r" b="b"/>
            <a:pathLst>
              <a:path w="4051992" h="21580">
                <a:moveTo>
                  <a:pt x="100330" y="0"/>
                </a:moveTo>
                <a:lnTo>
                  <a:pt x="3951662" y="0"/>
                </a:lnTo>
                <a:lnTo>
                  <a:pt x="3974771" y="2698"/>
                </a:lnTo>
                <a:lnTo>
                  <a:pt x="3984119" y="5395"/>
                </a:lnTo>
                <a:lnTo>
                  <a:pt x="3991138" y="8093"/>
                </a:lnTo>
                <a:lnTo>
                  <a:pt x="3996925" y="10790"/>
                </a:lnTo>
                <a:lnTo>
                  <a:pt x="4001907" y="13488"/>
                </a:lnTo>
                <a:lnTo>
                  <a:pt x="4006304" y="16185"/>
                </a:lnTo>
                <a:lnTo>
                  <a:pt x="4010249" y="18883"/>
                </a:lnTo>
                <a:lnTo>
                  <a:pt x="40138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4F8EF7"/>
              </a:gs>
              <a:gs pos="100000">
                <a:srgbClr val="4F8EF7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53363" y="3849092"/>
            <a:ext cx="1334288" cy="1334288"/>
          </a:xfrm>
          <a:prstGeom prst="rect">
            <a:avLst/>
          </a:prstGeom>
          <a:gradFill rotWithShape="1">
            <a:gsLst>
              <a:gs pos="0">
                <a:srgbClr val="4F8EF7">
                  <a:alpha val="7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04347" y="3849092"/>
            <a:ext cx="5402656" cy="28773"/>
          </a:xfrm>
          <a:custGeom>
            <a:avLst/>
            <a:gdLst/>
            <a:ahLst/>
            <a:cxnLst/>
            <a:rect l="l" t="t" r="r" b="b"/>
            <a:pathLst>
              <a:path w="4051992" h="21580">
                <a:moveTo>
                  <a:pt x="100330" y="0"/>
                </a:moveTo>
                <a:lnTo>
                  <a:pt x="3951662" y="0"/>
                </a:lnTo>
                <a:lnTo>
                  <a:pt x="3974771" y="2698"/>
                </a:lnTo>
                <a:lnTo>
                  <a:pt x="3984119" y="5395"/>
                </a:lnTo>
                <a:lnTo>
                  <a:pt x="3991138" y="8093"/>
                </a:lnTo>
                <a:lnTo>
                  <a:pt x="3996925" y="10790"/>
                </a:lnTo>
                <a:lnTo>
                  <a:pt x="4001907" y="13488"/>
                </a:lnTo>
                <a:lnTo>
                  <a:pt x="4006304" y="16185"/>
                </a:lnTo>
                <a:lnTo>
                  <a:pt x="4010249" y="18883"/>
                </a:lnTo>
                <a:lnTo>
                  <a:pt x="40138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4F8EF7"/>
              </a:gs>
              <a:gs pos="100000">
                <a:srgbClr val="4F8EF7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72716" y="3849092"/>
            <a:ext cx="1334288" cy="1334288"/>
          </a:xfrm>
          <a:prstGeom prst="rect">
            <a:avLst/>
          </a:prstGeom>
          <a:gradFill rotWithShape="1">
            <a:gsLst>
              <a:gs pos="0">
                <a:srgbClr val="4F8EF7">
                  <a:alpha val="7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0" y="38894"/>
            <a:ext cx="4001293" cy="2096293"/>
          </a:xfrm>
          <a:prstGeom prst="rect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72294" y="419894"/>
            <a:ext cx="496093" cy="38893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2294" y="516335"/>
            <a:ext cx="5779996" cy="378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977"/>
              </a:lnSpc>
            </a:pPr>
            <a:r>
              <a:rPr lang="en-US" sz="2707" b="1" kern="0" spc="-40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Challenge We Are Solving</a:t>
            </a:r>
            <a:endParaRPr lang="en-US" sz="2707" b="1" dirty="0">
              <a:solidFill>
                <a:srgbClr val="0066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2294" y="970557"/>
            <a:ext cx="594205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  <a:spcBef>
                <a:spcPts val="600"/>
              </a:spcBef>
            </a:pPr>
            <a:r>
              <a:rPr lang="en-US" sz="1120" kern="0" spc="1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(PA) today — four critical pain points blocking efficiency and care</a:t>
            </a:r>
            <a:endParaRPr lang="en-US" sz="1120" dirty="0">
              <a:solidFill>
                <a:srgbClr val="0066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48267" y="729854"/>
            <a:ext cx="1704868" cy="240308"/>
          </a:xfrm>
          <a:prstGeom prst="roundRect">
            <a:avLst>
              <a:gd name="adj" fmla="val 79626"/>
            </a:avLst>
          </a:prstGeom>
          <a:solidFill>
            <a:srgbClr val="F87171">
              <a:alpha val="10000"/>
            </a:srgbClr>
          </a:solidFill>
          <a:ln w="9525">
            <a:solidFill>
              <a:srgbClr val="F87171">
                <a:alpha val="30000"/>
              </a:srgbClr>
            </a:solidFill>
          </a:ln>
        </p:spPr>
        <p:txBody>
          <a:bodyPr wrap="none" lIns="230981" tIns="28787" rIns="94827" bIns="28787" rtlCol="0" anchor="ctr"/>
          <a:lstStyle/>
          <a:p>
            <a:r>
              <a:rPr lang="en-US" sz="827" b="1" kern="0" spc="67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27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6520" y="761516"/>
            <a:ext cx="176784" cy="1767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72294" y="1527573"/>
            <a:ext cx="5428060" cy="2117527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52488" y="1830190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865" y="1985566"/>
            <a:ext cx="185340" cy="1853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82328" y="1807765"/>
            <a:ext cx="198461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6"/>
              </a:lnSpc>
            </a:pPr>
            <a:r>
              <a:rPr lang="en-US" sz="134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Slow PA Review Cycle</a:t>
            </a:r>
            <a:endParaRPr lang="en-US" sz="1347" dirty="0">
              <a:solidFill>
                <a:srgbClr val="0066FF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1482328" y="2060179"/>
            <a:ext cx="750093" cy="317381"/>
          </a:xfrm>
          <a:prstGeom prst="roundRect">
            <a:avLst>
              <a:gd name="adj" fmla="val 18140"/>
            </a:avLst>
          </a:prstGeom>
          <a:solidFill>
            <a:srgbClr val="4F8EF7">
              <a:alpha val="15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Days</a:t>
            </a:r>
            <a:endParaRPr lang="en-US" sz="973" dirty="0"/>
          </a:p>
        </p:txBody>
      </p:sp>
      <p:sp>
        <p:nvSpPr>
          <p:cNvPr id="23" name="Text 19"/>
          <p:cNvSpPr/>
          <p:nvPr/>
        </p:nvSpPr>
        <p:spPr>
          <a:xfrm>
            <a:off x="2308622" y="2118121"/>
            <a:ext cx="913289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time</a:t>
            </a:r>
            <a:endParaRPr lang="en-US" sz="907" dirty="0">
              <a:solidFill>
                <a:srgbClr val="0066FF"/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852489" y="2482454"/>
            <a:ext cx="4965025" cy="69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6"/>
              </a:lnSpc>
            </a:pPr>
            <a:r>
              <a:rPr lang="en-US" sz="1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 reviews take </a:t>
            </a:r>
            <a:r>
              <a:rPr lang="en-US" sz="112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business days</a:t>
            </a:r>
            <a:r>
              <a:rPr lang="en-US" sz="1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creating approval backlogs that directly delay patient care, increase clinician frustration, and risk adverse health outcomes.</a:t>
            </a:r>
            <a:endParaRPr lang="en-US" sz="1120" dirty="0">
              <a:solidFill>
                <a:srgbClr val="0066FF"/>
              </a:solidFill>
            </a:endParaRPr>
          </a:p>
        </p:txBody>
      </p:sp>
      <p:sp>
        <p:nvSpPr>
          <p:cNvPr id="25" name="Text 21"/>
          <p:cNvSpPr/>
          <p:nvPr/>
        </p:nvSpPr>
        <p:spPr>
          <a:xfrm>
            <a:off x="6191647" y="1527573"/>
            <a:ext cx="5428060" cy="2117527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6471840" y="1830190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7218" y="1985566"/>
            <a:ext cx="185340" cy="1853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01682" y="1807765"/>
            <a:ext cx="274706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6"/>
              </a:lnSpc>
            </a:pPr>
            <a:r>
              <a:rPr lang="en-US" sz="134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Inconsistent Review Decisions</a:t>
            </a:r>
            <a:endParaRPr lang="en-US" sz="1347" dirty="0">
              <a:solidFill>
                <a:srgbClr val="0066FF"/>
              </a:solidFill>
            </a:endParaRPr>
          </a:p>
        </p:txBody>
      </p:sp>
      <p:sp>
        <p:nvSpPr>
          <p:cNvPr id="29" name="Text 24"/>
          <p:cNvSpPr/>
          <p:nvPr/>
        </p:nvSpPr>
        <p:spPr>
          <a:xfrm>
            <a:off x="7101681" y="2060179"/>
            <a:ext cx="1075928" cy="317381"/>
          </a:xfrm>
          <a:prstGeom prst="roundRect">
            <a:avLst>
              <a:gd name="adj" fmla="val 18140"/>
            </a:avLst>
          </a:prstGeom>
          <a:solidFill>
            <a:srgbClr val="4F8EF7">
              <a:alpha val="15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Variance</a:t>
            </a:r>
            <a:endParaRPr lang="en-US" sz="973" dirty="0"/>
          </a:p>
        </p:txBody>
      </p:sp>
      <p:sp>
        <p:nvSpPr>
          <p:cNvPr id="30" name="Text 25"/>
          <p:cNvSpPr/>
          <p:nvPr/>
        </p:nvSpPr>
        <p:spPr>
          <a:xfrm>
            <a:off x="8253810" y="2118121"/>
            <a:ext cx="94821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reviewers</a:t>
            </a:r>
            <a:endParaRPr lang="en-US" sz="907" dirty="0">
              <a:solidFill>
                <a:srgbClr val="0066FF"/>
              </a:solidFill>
            </a:endParaRPr>
          </a:p>
        </p:txBody>
      </p:sp>
      <p:sp>
        <p:nvSpPr>
          <p:cNvPr id="31" name="Text 26"/>
          <p:cNvSpPr/>
          <p:nvPr/>
        </p:nvSpPr>
        <p:spPr>
          <a:xfrm>
            <a:off x="6471841" y="2482454"/>
            <a:ext cx="4965025" cy="69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6"/>
              </a:lnSpc>
            </a:pPr>
            <a:r>
              <a:rPr lang="en-US" sz="1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review criteria leads to </a:t>
            </a:r>
            <a:r>
              <a:rPr lang="en-US" sz="112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approval/denial decisions</a:t>
            </a:r>
            <a:r>
              <a:rPr lang="en-US" sz="1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reviewers — creating inequity, compliance risk, and payer disputes.</a:t>
            </a:r>
            <a:endParaRPr lang="en-US" sz="1120" dirty="0">
              <a:solidFill>
                <a:srgbClr val="0066FF"/>
              </a:solidFill>
            </a:endParaRPr>
          </a:p>
        </p:txBody>
      </p:sp>
      <p:sp>
        <p:nvSpPr>
          <p:cNvPr id="32" name="Text 27"/>
          <p:cNvSpPr/>
          <p:nvPr/>
        </p:nvSpPr>
        <p:spPr>
          <a:xfrm>
            <a:off x="572294" y="3836393"/>
            <a:ext cx="5428060" cy="2117527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3" name="Text 28"/>
          <p:cNvSpPr/>
          <p:nvPr/>
        </p:nvSpPr>
        <p:spPr>
          <a:xfrm>
            <a:off x="852488" y="4139010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865" y="4294386"/>
            <a:ext cx="185340" cy="1853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482328" y="4116585"/>
            <a:ext cx="281975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6"/>
              </a:lnSpc>
            </a:pPr>
            <a:r>
              <a:rPr lang="en-US" sz="134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Fragmented System Integration</a:t>
            </a:r>
            <a:endParaRPr lang="en-US" sz="1347" dirty="0">
              <a:solidFill>
                <a:srgbClr val="0066FF"/>
              </a:solidFill>
            </a:endParaRPr>
          </a:p>
        </p:txBody>
      </p:sp>
      <p:sp>
        <p:nvSpPr>
          <p:cNvPr id="36" name="Text 30"/>
          <p:cNvSpPr/>
          <p:nvPr/>
        </p:nvSpPr>
        <p:spPr>
          <a:xfrm>
            <a:off x="1482328" y="4368999"/>
            <a:ext cx="1302147" cy="317381"/>
          </a:xfrm>
          <a:prstGeom prst="roundRect">
            <a:avLst>
              <a:gd name="adj" fmla="val 18140"/>
            </a:avLst>
          </a:prstGeom>
          <a:solidFill>
            <a:srgbClr val="4F8EF7">
              <a:alpha val="15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Siloed Systems</a:t>
            </a:r>
            <a:endParaRPr lang="en-US" sz="973" dirty="0"/>
          </a:p>
        </p:txBody>
      </p:sp>
      <p:sp>
        <p:nvSpPr>
          <p:cNvPr id="37" name="Text 31"/>
          <p:cNvSpPr/>
          <p:nvPr/>
        </p:nvSpPr>
        <p:spPr>
          <a:xfrm>
            <a:off x="2860675" y="4426943"/>
            <a:ext cx="976591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access</a:t>
            </a:r>
            <a:endParaRPr lang="en-US" sz="907" dirty="0">
              <a:solidFill>
                <a:srgbClr val="0066FF"/>
              </a:solidFill>
            </a:endParaRPr>
          </a:p>
        </p:txBody>
      </p:sp>
      <p:sp>
        <p:nvSpPr>
          <p:cNvPr id="38" name="Text 32"/>
          <p:cNvSpPr/>
          <p:nvPr/>
        </p:nvSpPr>
        <p:spPr>
          <a:xfrm>
            <a:off x="852489" y="4791274"/>
            <a:ext cx="4965025" cy="69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6"/>
              </a:lnSpc>
            </a:pPr>
            <a:r>
              <a:rPr lang="en-US" sz="1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systems — </a:t>
            </a:r>
            <a:r>
              <a:rPr lang="en-US" sz="112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EHR, payer portals, clinical databases</a:t>
            </a:r>
            <a:r>
              <a:rPr lang="en-US" sz="1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lack unified data access, forcing reviewers to manually cross-reference multiple platforms.</a:t>
            </a:r>
            <a:endParaRPr lang="en-US" sz="1120" dirty="0">
              <a:solidFill>
                <a:srgbClr val="0066FF"/>
              </a:solidFill>
            </a:endParaRPr>
          </a:p>
        </p:txBody>
      </p:sp>
      <p:sp>
        <p:nvSpPr>
          <p:cNvPr id="39" name="Text 33"/>
          <p:cNvSpPr/>
          <p:nvPr/>
        </p:nvSpPr>
        <p:spPr>
          <a:xfrm>
            <a:off x="6191647" y="3836393"/>
            <a:ext cx="5428060" cy="2117527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40" name="Text 34"/>
          <p:cNvSpPr/>
          <p:nvPr/>
        </p:nvSpPr>
        <p:spPr>
          <a:xfrm>
            <a:off x="6471840" y="4139010"/>
            <a:ext cx="496093" cy="496093"/>
          </a:xfrm>
          <a:prstGeom prst="roundRect">
            <a:avLst>
              <a:gd name="adj" fmla="val 23211"/>
            </a:avLst>
          </a:prstGeom>
          <a:solidFill>
            <a:srgbClr val="4F8EF7">
              <a:alpha val="12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7218" y="4294386"/>
            <a:ext cx="185340" cy="18534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101682" y="4116585"/>
            <a:ext cx="252573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16"/>
              </a:lnSpc>
            </a:pPr>
            <a:r>
              <a:rPr lang="en-US" sz="134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 Scalability Crisis</a:t>
            </a:r>
            <a:endParaRPr lang="en-US" sz="1347" dirty="0">
              <a:solidFill>
                <a:srgbClr val="0066FF"/>
              </a:solidFill>
            </a:endParaRPr>
          </a:p>
        </p:txBody>
      </p:sp>
      <p:sp>
        <p:nvSpPr>
          <p:cNvPr id="43" name="Text 36"/>
          <p:cNvSpPr/>
          <p:nvPr/>
        </p:nvSpPr>
        <p:spPr>
          <a:xfrm>
            <a:off x="7101682" y="4368999"/>
            <a:ext cx="1289447" cy="317381"/>
          </a:xfrm>
          <a:prstGeom prst="roundRect">
            <a:avLst>
              <a:gd name="adj" fmla="val 18140"/>
            </a:avLst>
          </a:prstGeom>
          <a:solidFill>
            <a:srgbClr val="4F8EF7">
              <a:alpha val="15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973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40% YoY Volume</a:t>
            </a:r>
            <a:endParaRPr lang="en-US" sz="973" dirty="0"/>
          </a:p>
        </p:txBody>
      </p:sp>
      <p:sp>
        <p:nvSpPr>
          <p:cNvPr id="44" name="Text 37"/>
          <p:cNvSpPr/>
          <p:nvPr/>
        </p:nvSpPr>
        <p:spPr>
          <a:xfrm>
            <a:off x="8467329" y="4426943"/>
            <a:ext cx="1023521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request growth</a:t>
            </a:r>
            <a:endParaRPr lang="en-US" sz="907" dirty="0">
              <a:solidFill>
                <a:srgbClr val="0066FF"/>
              </a:solidFill>
            </a:endParaRPr>
          </a:p>
        </p:txBody>
      </p:sp>
      <p:sp>
        <p:nvSpPr>
          <p:cNvPr id="45" name="Text 38"/>
          <p:cNvSpPr/>
          <p:nvPr/>
        </p:nvSpPr>
        <p:spPr>
          <a:xfrm>
            <a:off x="6471841" y="4791274"/>
            <a:ext cx="4965025" cy="69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36"/>
              </a:lnSpc>
            </a:pPr>
            <a:r>
              <a:rPr lang="en-US" sz="1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volume of PA requests </a:t>
            </a:r>
            <a:r>
              <a:rPr lang="en-US" sz="112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overwhelms existing manual workflows</a:t>
            </a:r>
            <a:r>
              <a:rPr lang="en-US" sz="112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headcount cannot scale linearly with demand, creating unsustainable operational costs.</a:t>
            </a:r>
            <a:endParaRPr lang="en-US" sz="1120" dirty="0">
              <a:solidFill>
                <a:srgbClr val="0066FF"/>
              </a:solidFill>
            </a:endParaRPr>
          </a:p>
        </p:txBody>
      </p:sp>
      <p:sp>
        <p:nvSpPr>
          <p:cNvPr id="46" name="Text 39"/>
          <p:cNvSpPr/>
          <p:nvPr/>
        </p:nvSpPr>
        <p:spPr>
          <a:xfrm>
            <a:off x="572294" y="6145213"/>
            <a:ext cx="11047412" cy="12700"/>
          </a:xfrm>
          <a:prstGeom prst="rect">
            <a:avLst/>
          </a:prstGeom>
          <a:solidFill>
            <a:srgbClr val="4F8EF7">
              <a:alpha val="15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7" name="Text 40"/>
          <p:cNvSpPr/>
          <p:nvPr/>
        </p:nvSpPr>
        <p:spPr>
          <a:xfrm>
            <a:off x="572293" y="6291661"/>
            <a:ext cx="292104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Review Copilot  ·  Enterprise Architecture</a:t>
            </a:r>
            <a:endParaRPr lang="en-US" sz="973" dirty="0"/>
          </a:p>
        </p:txBody>
      </p:sp>
      <p:sp>
        <p:nvSpPr>
          <p:cNvPr id="48" name="Text 41"/>
          <p:cNvSpPr/>
          <p:nvPr/>
        </p:nvSpPr>
        <p:spPr>
          <a:xfrm>
            <a:off x="8170664" y="6355556"/>
            <a:ext cx="57547" cy="57547"/>
          </a:xfrm>
          <a:prstGeom prst="ellipse">
            <a:avLst/>
          </a:prstGeom>
          <a:solidFill>
            <a:srgbClr val="F87171"/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9" name="Text 42"/>
          <p:cNvSpPr/>
          <p:nvPr/>
        </p:nvSpPr>
        <p:spPr>
          <a:xfrm>
            <a:off x="8285758" y="6298009"/>
            <a:ext cx="3667343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pain points addressable with the proposed Copilot architecture</a:t>
            </a:r>
            <a:endParaRPr lang="en-US" sz="90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38893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248841"/>
            <a:ext cx="4496376" cy="157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40"/>
              </a:lnSpc>
            </a:pPr>
            <a:r>
              <a:rPr lang="en-US" sz="827" b="1" kern="0" spc="187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OPTIONS</a:t>
            </a:r>
            <a:endParaRPr lang="en-US" sz="827" dirty="0"/>
          </a:p>
        </p:txBody>
      </p:sp>
      <p:sp>
        <p:nvSpPr>
          <p:cNvPr id="4" name="Text 2"/>
          <p:cNvSpPr/>
          <p:nvPr/>
        </p:nvSpPr>
        <p:spPr>
          <a:xfrm>
            <a:off x="533400" y="445096"/>
            <a:ext cx="4373747" cy="314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479"/>
              </a:lnSpc>
            </a:pPr>
            <a:r>
              <a:rPr lang="en-US" sz="2253" b="1" kern="0" spc="-27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Options at  a Glance</a:t>
            </a:r>
            <a:endParaRPr lang="en-US" sz="2253" b="1" dirty="0">
              <a:solidFill>
                <a:srgbClr val="0066FF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3680" y="346869"/>
            <a:ext cx="314920" cy="31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9893" y="874737"/>
            <a:ext cx="5371307" cy="5773143"/>
          </a:xfrm>
          <a:prstGeom prst="roundRect">
            <a:avLst>
              <a:gd name="adj" fmla="val 2491"/>
            </a:avLst>
          </a:prstGeom>
          <a:solidFill>
            <a:schemeClr val="bg1"/>
          </a:solidFill>
          <a:ln w="9525">
            <a:solidFill>
              <a:srgbClr val="8BA3C7">
                <a:alpha val="1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00089" y="1725811"/>
            <a:ext cx="4810919" cy="12700"/>
          </a:xfrm>
          <a:prstGeom prst="rect">
            <a:avLst/>
          </a:prstGeom>
          <a:solidFill>
            <a:srgbClr val="8BA3C7">
              <a:alpha val="1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00088" y="1134864"/>
            <a:ext cx="457200" cy="457200"/>
          </a:xfrm>
          <a:prstGeom prst="roundRect">
            <a:avLst>
              <a:gd name="adj" fmla="val 25185"/>
            </a:avLst>
          </a:prstGeom>
          <a:solidFill>
            <a:srgbClr val="8BA3C7">
              <a:alpha val="8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279" y="1263055"/>
            <a:ext cx="200620" cy="2006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1036" y="1146175"/>
            <a:ext cx="3436104" cy="45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 A</a:t>
            </a:r>
            <a:r>
              <a:rPr lang="en-US" sz="134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PA Review Copilot</a:t>
            </a:r>
            <a:endParaRPr lang="en-US" sz="1347" b="1" dirty="0">
              <a:solidFill>
                <a:srgbClr val="0066FF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00088" y="1938139"/>
            <a:ext cx="57547" cy="57547"/>
          </a:xfrm>
          <a:prstGeom prst="ellipse">
            <a:avLst/>
          </a:prstGeom>
          <a:solidFill>
            <a:srgbClr val="8BA3C7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00088" y="2436812"/>
            <a:ext cx="57547" cy="57547"/>
          </a:xfrm>
          <a:prstGeom prst="ellipse">
            <a:avLst/>
          </a:prstGeom>
          <a:solidFill>
            <a:srgbClr val="8BA3C7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00088" y="2729309"/>
            <a:ext cx="57547" cy="57547"/>
          </a:xfrm>
          <a:prstGeom prst="ellipse">
            <a:avLst/>
          </a:prstGeom>
          <a:solidFill>
            <a:srgbClr val="8BA3C7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00088" y="3227983"/>
            <a:ext cx="57547" cy="57547"/>
          </a:xfrm>
          <a:prstGeom prst="ellipse">
            <a:avLst/>
          </a:prstGeom>
          <a:solidFill>
            <a:srgbClr val="8BA3C7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00088" y="3520679"/>
            <a:ext cx="57547" cy="57547"/>
          </a:xfrm>
          <a:prstGeom prst="ellipse">
            <a:avLst/>
          </a:prstGeom>
          <a:solidFill>
            <a:srgbClr val="8BA3C7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700088" y="4019551"/>
            <a:ext cx="57547" cy="57547"/>
          </a:xfrm>
          <a:prstGeom prst="ellipse">
            <a:avLst/>
          </a:prstGeom>
          <a:solidFill>
            <a:srgbClr val="8BA3C7">
              <a:alpha val="5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700089" y="6145411"/>
            <a:ext cx="4907137" cy="279995"/>
          </a:xfrm>
          <a:prstGeom prst="rect">
            <a:avLst/>
          </a:prstGeom>
          <a:noFill/>
          <a:ln/>
        </p:spPr>
        <p:txBody>
          <a:bodyPr wrap="none" lIns="157784" tIns="94827" rIns="0" bIns="0" rtlCol="0" anchor="ctr"/>
          <a:lstStyle/>
          <a:p>
            <a:endParaRPr lang="en-US" sz="907" dirty="0"/>
          </a:p>
        </p:txBody>
      </p:sp>
      <p:sp>
        <p:nvSpPr>
          <p:cNvPr id="24" name="Text 20"/>
          <p:cNvSpPr/>
          <p:nvPr/>
        </p:nvSpPr>
        <p:spPr>
          <a:xfrm>
            <a:off x="700089" y="6145411"/>
            <a:ext cx="4810919" cy="12700"/>
          </a:xfrm>
          <a:prstGeom prst="rect">
            <a:avLst/>
          </a:prstGeom>
          <a:solidFill>
            <a:srgbClr val="8BA3C7">
              <a:alpha val="1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801" y="6250595"/>
            <a:ext cx="176784" cy="1767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090840" y="893565"/>
            <a:ext cx="10120" cy="263842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8BA3C7">
                  <a:alpha val="30000"/>
                </a:srgbClr>
              </a:gs>
              <a:gs pos="70000">
                <a:srgbClr val="8BA3C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5924154" y="3608190"/>
            <a:ext cx="343693" cy="378063"/>
          </a:xfrm>
          <a:prstGeom prst="ellipse">
            <a:avLst/>
          </a:prstGeom>
          <a:solidFill>
            <a:srgbClr val="0D1B2E"/>
          </a:solidFill>
          <a:ln w="9525">
            <a:solidFill>
              <a:srgbClr val="8BA3C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/>
            <a:r>
              <a:rPr lang="en-US" sz="827" b="1" kern="0" spc="4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27" dirty="0"/>
          </a:p>
        </p:txBody>
      </p:sp>
      <p:sp>
        <p:nvSpPr>
          <p:cNvPr id="28" name="Text 23"/>
          <p:cNvSpPr/>
          <p:nvPr/>
        </p:nvSpPr>
        <p:spPr>
          <a:xfrm>
            <a:off x="6090840" y="4028083"/>
            <a:ext cx="10120" cy="263862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8BA3C7">
                  <a:alpha val="30000"/>
                </a:srgbClr>
              </a:gs>
              <a:gs pos="70000">
                <a:srgbClr val="8BA3C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6400800" y="893565"/>
            <a:ext cx="5371307" cy="5773143"/>
          </a:xfrm>
          <a:prstGeom prst="roundRect">
            <a:avLst>
              <a:gd name="adj" fmla="val 2491"/>
            </a:avLst>
          </a:prstGeom>
          <a:noFill/>
          <a:ln w="9525">
            <a:solidFill>
              <a:srgbClr val="4F8EF7"/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10414000" y="5308606"/>
            <a:ext cx="1358107" cy="1358101"/>
          </a:xfrm>
          <a:custGeom>
            <a:avLst/>
            <a:gdLst/>
            <a:ahLst/>
            <a:cxnLst/>
            <a:rect l="l" t="t" r="r" b="b"/>
            <a:pathLst>
              <a:path w="1018580" h="1018576">
                <a:moveTo>
                  <a:pt x="70281" y="1018576"/>
                </a:moveTo>
                <a:lnTo>
                  <a:pt x="54379" y="987754"/>
                </a:lnTo>
                <a:lnTo>
                  <a:pt x="30761" y="921747"/>
                </a:lnTo>
                <a:lnTo>
                  <a:pt x="13727" y="853743"/>
                </a:lnTo>
                <a:lnTo>
                  <a:pt x="3440" y="784396"/>
                </a:lnTo>
                <a:lnTo>
                  <a:pt x="0" y="714375"/>
                </a:lnTo>
                <a:lnTo>
                  <a:pt x="3440" y="644354"/>
                </a:lnTo>
                <a:lnTo>
                  <a:pt x="13727" y="575007"/>
                </a:lnTo>
                <a:lnTo>
                  <a:pt x="30761" y="507003"/>
                </a:lnTo>
                <a:lnTo>
                  <a:pt x="54379" y="440996"/>
                </a:lnTo>
                <a:lnTo>
                  <a:pt x="84352" y="377621"/>
                </a:lnTo>
                <a:lnTo>
                  <a:pt x="120394" y="317490"/>
                </a:lnTo>
                <a:lnTo>
                  <a:pt x="162156" y="261180"/>
                </a:lnTo>
                <a:lnTo>
                  <a:pt x="209236" y="209236"/>
                </a:lnTo>
                <a:lnTo>
                  <a:pt x="261180" y="162156"/>
                </a:lnTo>
                <a:lnTo>
                  <a:pt x="317490" y="120394"/>
                </a:lnTo>
                <a:lnTo>
                  <a:pt x="377621" y="84352"/>
                </a:lnTo>
                <a:lnTo>
                  <a:pt x="440996" y="54379"/>
                </a:lnTo>
                <a:lnTo>
                  <a:pt x="507003" y="30761"/>
                </a:lnTo>
                <a:lnTo>
                  <a:pt x="575007" y="13727"/>
                </a:lnTo>
                <a:lnTo>
                  <a:pt x="644354" y="3440"/>
                </a:lnTo>
                <a:lnTo>
                  <a:pt x="714375" y="0"/>
                </a:lnTo>
                <a:lnTo>
                  <a:pt x="784396" y="3440"/>
                </a:lnTo>
                <a:lnTo>
                  <a:pt x="853743" y="13727"/>
                </a:lnTo>
                <a:lnTo>
                  <a:pt x="921747" y="30761"/>
                </a:lnTo>
                <a:lnTo>
                  <a:pt x="987754" y="54379"/>
                </a:lnTo>
                <a:lnTo>
                  <a:pt x="1018580" y="70281"/>
                </a:lnTo>
                <a:lnTo>
                  <a:pt x="1018580" y="918246"/>
                </a:lnTo>
                <a:lnTo>
                  <a:pt x="1016652" y="937820"/>
                </a:lnTo>
                <a:lnTo>
                  <a:pt x="1010943" y="956641"/>
                </a:lnTo>
                <a:lnTo>
                  <a:pt x="1001671" y="973987"/>
                </a:lnTo>
                <a:lnTo>
                  <a:pt x="989194" y="989190"/>
                </a:lnTo>
                <a:lnTo>
                  <a:pt x="973990" y="1001668"/>
                </a:lnTo>
                <a:lnTo>
                  <a:pt x="956645" y="1010939"/>
                </a:lnTo>
                <a:lnTo>
                  <a:pt x="937823" y="1016648"/>
                </a:lnTo>
                <a:lnTo>
                  <a:pt x="918250" y="1018576"/>
                </a:lnTo>
                <a:close/>
              </a:path>
            </a:pathLst>
          </a:custGeom>
          <a:gradFill rotWithShape="1">
            <a:gsLst>
              <a:gs pos="0">
                <a:srgbClr val="4F8EF7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2" name="Text 27"/>
          <p:cNvSpPr/>
          <p:nvPr/>
        </p:nvSpPr>
        <p:spPr>
          <a:xfrm>
            <a:off x="6680994" y="1725811"/>
            <a:ext cx="4810919" cy="12700"/>
          </a:xfrm>
          <a:prstGeom prst="rect">
            <a:avLst/>
          </a:prstGeom>
          <a:solidFill>
            <a:srgbClr val="8BA3C7">
              <a:alpha val="1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3" name="Text 28"/>
          <p:cNvSpPr/>
          <p:nvPr/>
        </p:nvSpPr>
        <p:spPr>
          <a:xfrm>
            <a:off x="6680993" y="1134864"/>
            <a:ext cx="457200" cy="457200"/>
          </a:xfrm>
          <a:prstGeom prst="roundRect">
            <a:avLst>
              <a:gd name="adj" fmla="val 25185"/>
            </a:avLst>
          </a:prstGeom>
          <a:solidFill>
            <a:srgbClr val="4F8EF7">
              <a:alpha val="12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9185" y="1263055"/>
            <a:ext cx="200620" cy="2006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271939" y="1146175"/>
            <a:ext cx="2546315" cy="45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 B</a:t>
            </a:r>
            <a:r>
              <a:rPr lang="en-US" sz="134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PA Review System</a:t>
            </a:r>
            <a:endParaRPr lang="en-US" sz="1347" b="1" dirty="0">
              <a:solidFill>
                <a:srgbClr val="0066FF"/>
              </a:solidFill>
            </a:endParaRPr>
          </a:p>
        </p:txBody>
      </p:sp>
      <p:sp>
        <p:nvSpPr>
          <p:cNvPr id="36" name="Text 30"/>
          <p:cNvSpPr/>
          <p:nvPr/>
        </p:nvSpPr>
        <p:spPr>
          <a:xfrm>
            <a:off x="6680994" y="1938140"/>
            <a:ext cx="65881" cy="65881"/>
          </a:xfrm>
          <a:prstGeom prst="ellips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38" name="Text 32"/>
          <p:cNvSpPr/>
          <p:nvPr/>
        </p:nvSpPr>
        <p:spPr>
          <a:xfrm>
            <a:off x="6680994" y="2437012"/>
            <a:ext cx="65881" cy="65881"/>
          </a:xfrm>
          <a:prstGeom prst="ellips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0" name="Text 34"/>
          <p:cNvSpPr/>
          <p:nvPr/>
        </p:nvSpPr>
        <p:spPr>
          <a:xfrm>
            <a:off x="6680994" y="2935884"/>
            <a:ext cx="65881" cy="65881"/>
          </a:xfrm>
          <a:prstGeom prst="ellips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2" name="Text 36"/>
          <p:cNvSpPr/>
          <p:nvPr/>
        </p:nvSpPr>
        <p:spPr>
          <a:xfrm>
            <a:off x="6680994" y="3434557"/>
            <a:ext cx="65881" cy="65881"/>
          </a:xfrm>
          <a:prstGeom prst="ellips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4" name="Text 38"/>
          <p:cNvSpPr/>
          <p:nvPr/>
        </p:nvSpPr>
        <p:spPr>
          <a:xfrm>
            <a:off x="6680994" y="3933230"/>
            <a:ext cx="65881" cy="65881"/>
          </a:xfrm>
          <a:prstGeom prst="ellips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6" name="Text 40"/>
          <p:cNvSpPr/>
          <p:nvPr/>
        </p:nvSpPr>
        <p:spPr>
          <a:xfrm>
            <a:off x="6680994" y="4432102"/>
            <a:ext cx="65881" cy="65881"/>
          </a:xfrm>
          <a:prstGeom prst="ellipse">
            <a:avLst/>
          </a:prstGeom>
          <a:solidFill>
            <a:srgbClr val="4F8EF7">
              <a:alpha val="9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8" name="Text 42"/>
          <p:cNvSpPr/>
          <p:nvPr/>
        </p:nvSpPr>
        <p:spPr>
          <a:xfrm>
            <a:off x="6680994" y="6145411"/>
            <a:ext cx="4907137" cy="279995"/>
          </a:xfrm>
          <a:prstGeom prst="rect">
            <a:avLst/>
          </a:prstGeom>
          <a:noFill/>
          <a:ln/>
        </p:spPr>
        <p:txBody>
          <a:bodyPr wrap="none" lIns="157784" tIns="94827" rIns="0" bIns="0" rtlCol="0" anchor="ctr"/>
          <a:lstStyle/>
          <a:p>
            <a:endParaRPr lang="en-US" sz="907" dirty="0"/>
          </a:p>
        </p:txBody>
      </p:sp>
      <p:sp>
        <p:nvSpPr>
          <p:cNvPr id="49" name="Text 43"/>
          <p:cNvSpPr/>
          <p:nvPr/>
        </p:nvSpPr>
        <p:spPr>
          <a:xfrm>
            <a:off x="6680994" y="6145411"/>
            <a:ext cx="4810919" cy="12700"/>
          </a:xfrm>
          <a:prstGeom prst="rect">
            <a:avLst/>
          </a:prstGeom>
          <a:solidFill>
            <a:srgbClr val="4F8EF7">
              <a:alpha val="20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2707" y="6250595"/>
            <a:ext cx="176784" cy="176784"/>
          </a:xfrm>
          <a:prstGeom prst="rect">
            <a:avLst/>
          </a:prstGeom>
        </p:spPr>
      </p:pic>
      <p:sp>
        <p:nvSpPr>
          <p:cNvPr id="52" name="Text 6">
            <a:extLst>
              <a:ext uri="{FF2B5EF4-FFF2-40B4-BE49-F238E27FC236}">
                <a16:creationId xmlns:a16="http://schemas.microsoft.com/office/drawing/2014/main" id="{EE3FD05F-4D45-1BA4-EAC0-878C082739AC}"/>
              </a:ext>
            </a:extLst>
          </p:cNvPr>
          <p:cNvSpPr/>
          <p:nvPr/>
        </p:nvSpPr>
        <p:spPr>
          <a:xfrm>
            <a:off x="890588" y="1501775"/>
            <a:ext cx="4139187" cy="3228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Multi-Agent AI System</a:t>
            </a:r>
          </a:p>
          <a:p>
            <a:pPr>
              <a:lnSpc>
                <a:spcPts val="1616"/>
              </a:lnSpc>
            </a:pPr>
            <a:endParaRPr lang="en-US" sz="1507" b="1" dirty="0">
              <a:solidFill>
                <a:srgbClr val="0066F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Specialized AI agents collaborate across the review process</a:t>
            </a: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Assists nurses with classification, extraction, compliance, and recommendations</a:t>
            </a: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Keeps clinical reviewers in control</a:t>
            </a: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Delivers faster decisions with minimal workflow disruption</a:t>
            </a:r>
          </a:p>
          <a:p>
            <a:pPr>
              <a:lnSpc>
                <a:spcPts val="1616"/>
              </a:lnSpc>
            </a:pPr>
            <a:endParaRPr lang="en-US" sz="1507" b="1" dirty="0">
              <a:solidFill>
                <a:srgbClr val="0066F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for: Rapid AI adoption and human-in-the-loop intelligence</a:t>
            </a:r>
            <a:endParaRPr lang="en-US" sz="1347" b="1" dirty="0">
              <a:solidFill>
                <a:srgbClr val="0066FF"/>
              </a:solidFill>
            </a:endParaRPr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1F2B658C-7F46-11D2-3A65-144AC0D197AD}"/>
              </a:ext>
            </a:extLst>
          </p:cNvPr>
          <p:cNvSpPr/>
          <p:nvPr/>
        </p:nvSpPr>
        <p:spPr>
          <a:xfrm>
            <a:off x="7008542" y="1686321"/>
            <a:ext cx="3991947" cy="2829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Microservices-Based Platform</a:t>
            </a:r>
          </a:p>
          <a:p>
            <a:pPr>
              <a:lnSpc>
                <a:spcPts val="1616"/>
              </a:lnSpc>
            </a:pPr>
            <a:endParaRPr lang="en-US" sz="1507" b="1" dirty="0">
              <a:solidFill>
                <a:srgbClr val="0066F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Independent Spring Boot services manage each business capability</a:t>
            </a: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Automates intake, validation, workflow, integration, and tracking</a:t>
            </a: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Scales securely across enterprise workloads</a:t>
            </a: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Provides resilience, flexibility, and long-term extensibility</a:t>
            </a:r>
          </a:p>
          <a:p>
            <a:pPr>
              <a:lnSpc>
                <a:spcPts val="1616"/>
              </a:lnSpc>
            </a:pPr>
            <a:endParaRPr lang="en-US" sz="1507" b="1" dirty="0">
              <a:solidFill>
                <a:srgbClr val="0066F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>
              <a:lnSpc>
                <a:spcPts val="1616"/>
              </a:lnSpc>
            </a:pPr>
            <a:r>
              <a:rPr lang="en-US" sz="1507" b="1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for: Scalable, end-to-end prior authorization automation</a:t>
            </a:r>
            <a:endParaRPr lang="en-US" sz="1347" b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presentation_slide_hero_graphi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infographic_slide_layout_on_a_wh_2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clean_corporate_presentation_slide_infogra_3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saas_product_marketing_slide_or_infographi_4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infographic_slide_architecture_5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slide_infographic_style_presen_6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presentation_slide_infographic_8_batch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3"/>
          <p:cNvSpPr/>
          <p:nvPr/>
        </p:nvSpPr>
        <p:spPr>
          <a:xfrm>
            <a:off x="0" y="38894"/>
            <a:ext cx="4001293" cy="2096293"/>
          </a:xfrm>
          <a:prstGeom prst="rect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572294" y="419894"/>
            <a:ext cx="496093" cy="38893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572294" y="516335"/>
            <a:ext cx="7800000" cy="378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977"/>
              </a:lnSpc>
            </a:pPr>
            <a:r>
              <a:rPr lang="en-US" sz="2707" b="1" kern="0" spc="-4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Boot Microservice Flow</a:t>
            </a:r>
          </a:p>
        </p:txBody>
      </p:sp>
      <p:sp>
        <p:nvSpPr>
          <p:cNvPr id="6" name="Text 6"/>
          <p:cNvSpPr/>
          <p:nvPr/>
        </p:nvSpPr>
        <p:spPr>
          <a:xfrm>
            <a:off x="572294" y="970557"/>
            <a:ext cx="82000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sz="1120" kern="0" spc="11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— rapid prototype: Claude completeness check &amp; nurse copilot</a:t>
            </a:r>
          </a:p>
        </p:txBody>
      </p:sp>
      <p:sp>
        <p:nvSpPr>
          <p:cNvPr id="7" name="Chip"/>
          <p:cNvSpPr/>
          <p:nvPr/>
        </p:nvSpPr>
        <p:spPr>
          <a:xfrm>
            <a:off x="9914838" y="729854"/>
            <a:ext cx="1704868" cy="240308"/>
          </a:xfrm>
          <a:prstGeom prst="roundRect">
            <a:avLst>
              <a:gd name="adj" fmla="val 79626"/>
            </a:avLst>
          </a:prstGeom>
          <a:solidFill>
            <a:srgbClr val="4F8EF7">
              <a:alpha val="10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150981" tIns="28787" rIns="150981" bIns="28787" rtlCol="0" anchor="ctr"/>
          <a:lstStyle/>
          <a:p>
            <a:pPr algn="ctr"/>
            <a:r>
              <a:rPr lang="en-US" sz="827" b="1" kern="0" spc="67">
                <a:solidFill>
                  <a:srgbClr val="2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</a:p>
        </p:txBody>
      </p:sp>
      <p:sp>
        <p:nvSpPr>
          <p:cNvPr id="8" name="Shape 8"/>
          <p:cNvSpPr/>
          <p:nvPr/>
        </p:nvSpPr>
        <p:spPr>
          <a:xfrm>
            <a:off x="572294" y="1440000"/>
            <a:ext cx="11047412" cy="4400000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0" name="Picture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198" y="1720000"/>
            <a:ext cx="10047604" cy="3708979"/>
          </a:xfrm>
          <a:prstGeom prst="rect">
            <a:avLst/>
          </a:prstGeom>
        </p:spPr>
      </p:pic>
      <p:sp>
        <p:nvSpPr>
          <p:cNvPr id="9" name="Shape 9"/>
          <p:cNvSpPr/>
          <p:nvPr/>
        </p:nvSpPr>
        <p:spPr>
          <a:xfrm>
            <a:off x="572294" y="6145213"/>
            <a:ext cx="11047412" cy="12700"/>
          </a:xfrm>
          <a:prstGeom prst="rect">
            <a:avLst/>
          </a:prstGeom>
          <a:solidFill>
            <a:srgbClr val="4F8EF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572293" y="6291661"/>
            <a:ext cx="350000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</a:pPr>
            <a:r>
              <a:rPr lang="en-US" sz="973" ker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Review Copilot  ·  Enterprise Architecture</a:t>
            </a:r>
          </a:p>
        </p:txBody>
      </p:sp>
      <p:sp>
        <p:nvSpPr>
          <p:cNvPr id="11" name="Shape 11"/>
          <p:cNvSpPr/>
          <p:nvPr/>
        </p:nvSpPr>
        <p:spPr>
          <a:xfrm>
            <a:off x="8540706" y="6355556"/>
            <a:ext cx="57547" cy="57547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8655706" y="6298009"/>
            <a:ext cx="296400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</a:pPr>
            <a:r>
              <a:rPr lang="en-US" sz="907" ker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asynchronous, trackable, scalable service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F8E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38894"/>
            <a:ext cx="4001293" cy="2096293"/>
          </a:xfrm>
          <a:prstGeom prst="rect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572294" y="419894"/>
            <a:ext cx="496093" cy="38893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572294" y="516335"/>
            <a:ext cx="7800000" cy="378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977"/>
              </a:lnSpc>
              <a:buNone/>
            </a:pPr>
            <a:r>
              <a:rPr lang="en-US" sz="2707" b="1" kern="0" spc="-4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Recommendation</a:t>
            </a:r>
          </a:p>
        </p:txBody>
      </p:sp>
      <p:sp>
        <p:nvSpPr>
          <p:cNvPr id="6" name="Text 6"/>
          <p:cNvSpPr/>
          <p:nvPr/>
        </p:nvSpPr>
        <p:spPr>
          <a:xfrm>
            <a:off x="572294" y="970557"/>
            <a:ext cx="860000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  <a:buNone/>
            </a:pPr>
            <a:r>
              <a:rPr lang="en-US" sz="1120" kern="0" spc="11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Copilot first, then evolve into the full microservices platform</a:t>
            </a:r>
          </a:p>
        </p:txBody>
      </p:sp>
      <p:sp>
        <p:nvSpPr>
          <p:cNvPr id="7" name="Chip"/>
          <p:cNvSpPr/>
          <p:nvPr/>
        </p:nvSpPr>
        <p:spPr>
          <a:xfrm>
            <a:off x="10419706" y="729854"/>
            <a:ext cx="1200000" cy="240308"/>
          </a:xfrm>
          <a:prstGeom prst="roundRect">
            <a:avLst>
              <a:gd name="adj" fmla="val 79626"/>
            </a:avLst>
          </a:prstGeom>
          <a:solidFill>
            <a:srgbClr val="4F8EF7">
              <a:alpha val="10000"/>
            </a:srgbClr>
          </a:solidFill>
          <a:ln w="9525">
            <a:solidFill>
              <a:srgbClr val="4F8EF7">
                <a:alpha val="30000"/>
              </a:srgbClr>
            </a:solidFill>
          </a:ln>
        </p:spPr>
        <p:txBody>
          <a:bodyPr wrap="none" lIns="150981" tIns="28787" rIns="150981" bIns="28787" rtlCol="0" anchor="ctr"/>
          <a:lstStyle/>
          <a:p>
            <a:pPr algn="ctr"/>
            <a:r>
              <a:rPr lang="en-US" sz="827" b="1" kern="0" spc="67">
                <a:solidFill>
                  <a:srgbClr val="2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8" name="Shape 8"/>
          <p:cNvSpPr/>
          <p:nvPr/>
        </p:nvSpPr>
        <p:spPr>
          <a:xfrm>
            <a:off x="572294" y="1700000"/>
            <a:ext cx="5428060" cy="3500000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/>
          <p:nvPr/>
        </p:nvSpPr>
        <p:spPr>
          <a:xfrm>
            <a:off x="852488" y="2020000"/>
            <a:ext cx="490000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16"/>
              </a:lnSpc>
              <a:buNone/>
            </a:pPr>
            <a:r>
              <a:rPr lang="en-US" sz="1347" b="1" kern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 A  ·  PA Review Copilot</a:t>
            </a:r>
          </a:p>
        </p:txBody>
      </p:sp>
      <p:sp>
        <p:nvSpPr>
          <p:cNvPr id="10" name="Text 10"/>
          <p:cNvSpPr/>
          <p:nvPr/>
        </p:nvSpPr>
        <p:spPr>
          <a:xfrm>
            <a:off x="852488" y="2330000"/>
            <a:ext cx="490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  <a:buNone/>
            </a:pPr>
            <a:r>
              <a:rPr lang="en-US" sz="973" ker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AI, human-in-the-loop</a:t>
            </a:r>
          </a:p>
        </p:txBody>
      </p:sp>
      <p:sp>
        <p:nvSpPr>
          <p:cNvPr id="11" name="Text 11"/>
          <p:cNvSpPr/>
          <p:nvPr/>
        </p:nvSpPr>
        <p:spPr>
          <a:xfrm>
            <a:off x="852488" y="2620000"/>
            <a:ext cx="4865025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00"/>
              </a:lnSpc>
              <a:buNone/>
            </a:pPr>
            <a:r>
              <a:rPr lang="en-US" sz="1000" kern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Assists nurses with classification, extraction, and compliance checks</a:t>
            </a:r>
          </a:p>
          <a:p>
            <a:pPr>
              <a:lnSpc>
                <a:spcPts val="3400"/>
              </a:lnSpc>
              <a:spcBef>
                <a:spcPts val="300"/>
              </a:spcBef>
              <a:buNone/>
            </a:pPr>
            <a:r>
              <a:rPr lang="en-US" sz="1000" kern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Clinical reviewers stay in control of every decision</a:t>
            </a:r>
          </a:p>
          <a:p>
            <a:pPr>
              <a:lnSpc>
                <a:spcPts val="3400"/>
              </a:lnSpc>
              <a:spcBef>
                <a:spcPts val="300"/>
              </a:spcBef>
              <a:buNone/>
            </a:pPr>
            <a:r>
              <a:rPr lang="en-US" sz="1000" kern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Fastest route to measurable value with minimal disruption</a:t>
            </a:r>
          </a:p>
        </p:txBody>
      </p:sp>
      <p:sp>
        <p:nvSpPr>
          <p:cNvPr id="12" name="Text 12"/>
          <p:cNvSpPr/>
          <p:nvPr/>
        </p:nvSpPr>
        <p:spPr>
          <a:xfrm>
            <a:off x="852488" y="4780000"/>
            <a:ext cx="4865025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  <a:buNone/>
            </a:pPr>
            <a:r>
              <a:rPr lang="en-US" sz="1000" b="1" kern="0">
                <a:solidFill>
                  <a:srgbClr val="2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rapid AI adoption</a:t>
            </a:r>
          </a:p>
        </p:txBody>
      </p:sp>
      <p:sp>
        <p:nvSpPr>
          <p:cNvPr id="13" name="Shape 13"/>
          <p:cNvSpPr/>
          <p:nvPr/>
        </p:nvSpPr>
        <p:spPr>
          <a:xfrm>
            <a:off x="6191647" y="1700000"/>
            <a:ext cx="5428060" cy="3500000"/>
          </a:xfrm>
          <a:prstGeom prst="roundRect">
            <a:avLst>
              <a:gd name="adj" fmla="val 6317"/>
            </a:avLst>
          </a:prstGeom>
          <a:solidFill>
            <a:schemeClr val="bg1"/>
          </a:solidFill>
          <a:ln w="9525">
            <a:solidFill>
              <a:srgbClr val="4F8EF7">
                <a:alpha val="3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6471841" y="2020000"/>
            <a:ext cx="490000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16"/>
              </a:lnSpc>
              <a:buNone/>
            </a:pPr>
            <a:r>
              <a:rPr lang="en-US" sz="1347" b="1" kern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 B  ·  PA Review System</a:t>
            </a:r>
          </a:p>
        </p:txBody>
      </p:sp>
      <p:sp>
        <p:nvSpPr>
          <p:cNvPr id="15" name="Text 15"/>
          <p:cNvSpPr/>
          <p:nvPr/>
        </p:nvSpPr>
        <p:spPr>
          <a:xfrm>
            <a:off x="6471841" y="2330000"/>
            <a:ext cx="4900000" cy="18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  <a:buNone/>
            </a:pPr>
            <a:r>
              <a:rPr lang="en-US" sz="973" ker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microservices platform</a:t>
            </a:r>
          </a:p>
        </p:txBody>
      </p:sp>
      <p:sp>
        <p:nvSpPr>
          <p:cNvPr id="16" name="Text 16"/>
          <p:cNvSpPr/>
          <p:nvPr/>
        </p:nvSpPr>
        <p:spPr>
          <a:xfrm>
            <a:off x="6471841" y="2620000"/>
            <a:ext cx="4865025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00"/>
              </a:lnSpc>
              <a:buNone/>
            </a:pPr>
            <a:r>
              <a:rPr lang="en-US" sz="1000" kern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Independent services for intake, validation, workflow, and tracking</a:t>
            </a:r>
          </a:p>
          <a:p>
            <a:pPr>
              <a:lnSpc>
                <a:spcPts val="3400"/>
              </a:lnSpc>
              <a:spcBef>
                <a:spcPts val="300"/>
              </a:spcBef>
              <a:buNone/>
            </a:pPr>
            <a:r>
              <a:rPr lang="en-US" sz="1000" kern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Scales securely across enterprise workloads</a:t>
            </a:r>
          </a:p>
          <a:p>
            <a:pPr>
              <a:lnSpc>
                <a:spcPts val="3400"/>
              </a:lnSpc>
              <a:spcBef>
                <a:spcPts val="300"/>
              </a:spcBef>
              <a:buNone/>
            </a:pPr>
            <a:r>
              <a:rPr lang="en-US" sz="1000" kern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Resilient, flexible, and extensible for the long term</a:t>
            </a:r>
          </a:p>
        </p:txBody>
      </p:sp>
      <p:sp>
        <p:nvSpPr>
          <p:cNvPr id="17" name="Text 17"/>
          <p:cNvSpPr/>
          <p:nvPr/>
        </p:nvSpPr>
        <p:spPr>
          <a:xfrm>
            <a:off x="6471841" y="4780000"/>
            <a:ext cx="4865025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  <a:buNone/>
            </a:pPr>
            <a:r>
              <a:rPr lang="en-US" sz="1000" b="1" kern="0">
                <a:solidFill>
                  <a:srgbClr val="2E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full PA automation</a:t>
            </a:r>
          </a:p>
        </p:txBody>
      </p:sp>
      <p:sp>
        <p:nvSpPr>
          <p:cNvPr id="41" name="Shape 41"/>
          <p:cNvSpPr/>
          <p:nvPr/>
        </p:nvSpPr>
        <p:spPr>
          <a:xfrm>
            <a:off x="572294" y="6145213"/>
            <a:ext cx="11047412" cy="12700"/>
          </a:xfrm>
          <a:prstGeom prst="rect">
            <a:avLst/>
          </a:prstGeom>
          <a:solidFill>
            <a:srgbClr val="4F8EF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2"/>
          <p:cNvSpPr/>
          <p:nvPr/>
        </p:nvSpPr>
        <p:spPr>
          <a:xfrm>
            <a:off x="572293" y="6291661"/>
            <a:ext cx="3500000" cy="1853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460"/>
              </a:lnSpc>
              <a:buNone/>
            </a:pPr>
            <a:r>
              <a:rPr lang="en-US" sz="973" ker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Review Copilot  ·  Enterprise Architecture</a:t>
            </a:r>
          </a:p>
        </p:txBody>
      </p:sp>
      <p:sp>
        <p:nvSpPr>
          <p:cNvPr id="43" name="Shape 43"/>
          <p:cNvSpPr/>
          <p:nvPr/>
        </p:nvSpPr>
        <p:spPr>
          <a:xfrm>
            <a:off x="8644706" y="6355556"/>
            <a:ext cx="57547" cy="57547"/>
          </a:xfrm>
          <a:prstGeom prst="ellipse">
            <a:avLst/>
          </a:prstGeom>
          <a:solidFill>
            <a:srgbClr val="4F8E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4"/>
          <p:cNvSpPr/>
          <p:nvPr/>
        </p:nvSpPr>
        <p:spPr>
          <a:xfrm>
            <a:off x="8759706" y="6298009"/>
            <a:ext cx="2860000" cy="172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60"/>
              </a:lnSpc>
              <a:buNone/>
            </a:pPr>
            <a:r>
              <a:rPr lang="en-US" sz="907" kern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adoption — Copilot first, platform 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F8EF7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715293" cy="28773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8773" cy="1143000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6707" y="0"/>
            <a:ext cx="1715293" cy="28773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63227" y="0"/>
            <a:ext cx="28773" cy="1143000"/>
          </a:xfrm>
          <a:prstGeom prst="rect">
            <a:avLst/>
          </a:prstGeom>
          <a:gradFill rotWithShape="1">
            <a:gsLst>
              <a:gs pos="0">
                <a:srgbClr val="4F8EF7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10000" y="914400"/>
            <a:ext cx="4572000" cy="4572000"/>
          </a:xfrm>
          <a:prstGeom prst="ellipse">
            <a:avLst/>
          </a:prstGeom>
          <a:gradFill rotWithShape="1">
            <a:gsLst>
              <a:gs pos="0">
                <a:srgbClr val="4F8EF7">
                  <a:alpha val="13000"/>
                </a:srgbClr>
              </a:gs>
              <a:gs pos="55000">
                <a:srgbClr val="4F8EF7">
                  <a:alpha val="4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91746" y="866379"/>
            <a:ext cx="1408509" cy="1408509"/>
          </a:xfrm>
          <a:prstGeom prst="ellipse">
            <a:avLst/>
          </a:prstGeom>
          <a:noFill/>
          <a:ln w="9525">
            <a:solidFill>
              <a:srgbClr val="4F8EF7">
                <a:alpha val="32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8907" y="693539"/>
            <a:ext cx="1754188" cy="1754188"/>
          </a:xfrm>
          <a:prstGeom prst="ellipse">
            <a:avLst/>
          </a:prstGeom>
          <a:noFill/>
          <a:ln w="9525">
            <a:solidFill>
              <a:srgbClr val="4F8EF7">
                <a:alpha val="1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62600" y="1037233"/>
            <a:ext cx="1066800" cy="1066800"/>
          </a:xfrm>
          <a:prstGeom prst="ellipse">
            <a:avLst/>
          </a:prstGeom>
          <a:solidFill>
            <a:srgbClr val="4F8EF7">
              <a:alpha val="13000"/>
            </a:srgbClr>
          </a:solidFill>
          <a:ln w="9525">
            <a:solidFill>
              <a:srgbClr val="4F8EF7">
                <a:alpha val="45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7400" y="1342033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301902" y="2313981"/>
            <a:ext cx="5588199" cy="566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459"/>
              </a:lnSpc>
            </a:pPr>
            <a:r>
              <a:rPr lang="en-US" sz="4053" kern="0" spc="-40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Discussion</a:t>
            </a:r>
            <a:endParaRPr lang="en-US" sz="4053" dirty="0">
              <a:solidFill>
                <a:srgbClr val="0066FF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76354" y="3013870"/>
            <a:ext cx="3239293" cy="28773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4F8EF7">
                  <a:alpha val="0"/>
                </a:srgbClr>
              </a:gs>
              <a:gs pos="40000">
                <a:srgbClr val="4F8EF7"/>
              </a:gs>
              <a:gs pos="75000">
                <a:srgbClr val="7DB3FF"/>
              </a:gs>
              <a:gs pos="100000">
                <a:srgbClr val="4F8EF7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203284" y="3176390"/>
            <a:ext cx="3785433" cy="271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40"/>
              </a:lnSpc>
              <a:spcAft>
                <a:spcPts val="2253"/>
              </a:spcAft>
            </a:pPr>
            <a:r>
              <a:rPr lang="en-US" sz="1427" kern="0" spc="43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align on next steps and open items</a:t>
            </a:r>
            <a:endParaRPr lang="en-US" sz="1427" dirty="0">
              <a:solidFill>
                <a:srgbClr val="0066FF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19500" y="3734198"/>
            <a:ext cx="4953000" cy="428029"/>
          </a:xfrm>
          <a:prstGeom prst="roundRect">
            <a:avLst>
              <a:gd name="adj" fmla="val 22154"/>
            </a:avLst>
          </a:prstGeom>
          <a:solidFill>
            <a:schemeClr val="bg1">
              <a:alpha val="70000"/>
            </a:schemeClr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899694" y="3862586"/>
            <a:ext cx="239236" cy="171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47"/>
              </a:lnSpc>
            </a:pPr>
            <a:r>
              <a:rPr lang="en-US" sz="1347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347" dirty="0"/>
          </a:p>
        </p:txBody>
      </p:sp>
      <p:sp>
        <p:nvSpPr>
          <p:cNvPr id="17" name="Text 14"/>
          <p:cNvSpPr/>
          <p:nvPr/>
        </p:nvSpPr>
        <p:spPr>
          <a:xfrm>
            <a:off x="4232275" y="3847902"/>
            <a:ext cx="94232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53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</a:t>
            </a:r>
            <a:endParaRPr lang="en-US" sz="1053" dirty="0">
              <a:solidFill>
                <a:srgbClr val="0066FF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204025" y="3841552"/>
            <a:ext cx="185102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ganeshpunde@gmail.com</a:t>
            </a:r>
            <a:endParaRPr lang="en-US" sz="1120" b="1" dirty="0">
              <a:solidFill>
                <a:srgbClr val="0066FF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3619500" y="4256882"/>
            <a:ext cx="4953000" cy="641349"/>
          </a:xfrm>
          <a:prstGeom prst="roundRect">
            <a:avLst>
              <a:gd name="adj" fmla="val 14786"/>
            </a:avLst>
          </a:prstGeom>
          <a:solidFill>
            <a:schemeClr val="bg1">
              <a:alpha val="70000"/>
            </a:schemeClr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3899694" y="4492030"/>
            <a:ext cx="239236" cy="171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47"/>
              </a:lnSpc>
            </a:pPr>
            <a:r>
              <a:rPr lang="en-US" sz="1347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47" dirty="0"/>
          </a:p>
        </p:txBody>
      </p:sp>
      <p:sp>
        <p:nvSpPr>
          <p:cNvPr id="21" name="Text 18"/>
          <p:cNvSpPr/>
          <p:nvPr/>
        </p:nvSpPr>
        <p:spPr>
          <a:xfrm>
            <a:off x="4232275" y="4477147"/>
            <a:ext cx="94232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53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DOCS</a:t>
            </a:r>
            <a:endParaRPr lang="en-US" sz="1053" dirty="0">
              <a:solidFill>
                <a:srgbClr val="0066FF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02909" y="4364237"/>
            <a:ext cx="3551163" cy="44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 available on Confluence</a:t>
            </a:r>
            <a:endParaRPr lang="en-US" sz="1120" b="1" dirty="0">
              <a:solidFill>
                <a:srgbClr val="0066FF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3619500" y="4992886"/>
            <a:ext cx="4953000" cy="428029"/>
          </a:xfrm>
          <a:prstGeom prst="roundRect">
            <a:avLst>
              <a:gd name="adj" fmla="val 22154"/>
            </a:avLst>
          </a:prstGeom>
          <a:solidFill>
            <a:schemeClr val="bg1">
              <a:alpha val="70000"/>
            </a:schemeClr>
          </a:solidFill>
          <a:ln w="9525">
            <a:solidFill>
              <a:srgbClr val="4F8EF7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3899694" y="5121275"/>
            <a:ext cx="239236" cy="1710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347"/>
              </a:lnSpc>
            </a:pPr>
            <a:r>
              <a:rPr lang="en-US" sz="1347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347" dirty="0"/>
          </a:p>
        </p:txBody>
      </p:sp>
      <p:sp>
        <p:nvSpPr>
          <p:cNvPr id="25" name="Text 22"/>
          <p:cNvSpPr/>
          <p:nvPr/>
        </p:nvSpPr>
        <p:spPr>
          <a:xfrm>
            <a:off x="4232275" y="5106591"/>
            <a:ext cx="94232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580"/>
              </a:lnSpc>
            </a:pPr>
            <a:r>
              <a:rPr lang="en-US" sz="1053" dirty="0">
                <a:solidFill>
                  <a:srgbClr val="0066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</a:t>
            </a:r>
            <a:endParaRPr lang="en-US" sz="1053" dirty="0">
              <a:solidFill>
                <a:srgbClr val="0066FF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5204024" y="5100240"/>
            <a:ext cx="336305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sz="112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Review: Schedule for Sprint 0 Kickoff</a:t>
            </a:r>
            <a:endParaRPr lang="en-US" sz="1120" b="1" dirty="0">
              <a:solidFill>
                <a:srgbClr val="0066FF"/>
              </a:solidFill>
            </a:endParaRPr>
          </a:p>
        </p:txBody>
      </p:sp>
      <p:sp>
        <p:nvSpPr>
          <p:cNvPr id="27" name="Text 24"/>
          <p:cNvSpPr/>
          <p:nvPr/>
        </p:nvSpPr>
        <p:spPr>
          <a:xfrm>
            <a:off x="0" y="6361907"/>
            <a:ext cx="12192000" cy="496093"/>
          </a:xfrm>
          <a:prstGeom prst="rect">
            <a:avLst/>
          </a:prstGeom>
          <a:solidFill>
            <a:srgbClr val="0D1B2E">
              <a:alpha val="95000"/>
            </a:srgbClr>
          </a:solidFill>
          <a:ln/>
        </p:spPr>
        <p:txBody>
          <a:bodyPr wrap="square" rtlCol="0" anchor="t"/>
          <a:lstStyle/>
          <a:p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0" y="6361907"/>
            <a:ext cx="12192000" cy="12700"/>
          </a:xfrm>
          <a:prstGeom prst="rect">
            <a:avLst/>
          </a:prstGeom>
          <a:solidFill>
            <a:srgbClr val="4F8EF7">
              <a:alpha val="22000"/>
            </a:srgbClr>
          </a:solidFill>
          <a:ln/>
        </p:spPr>
        <p:txBody>
          <a:bodyPr wrap="none" rtlCol="0" anchor="t"/>
          <a:lstStyle/>
          <a:p>
            <a:endParaRPr lang="en-US" sz="24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1199" y="6527713"/>
            <a:ext cx="176784" cy="17678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907433" y="6509544"/>
            <a:ext cx="189686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sz="112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 REVIEW COPILOT</a:t>
            </a:r>
            <a:endParaRPr lang="en-US" sz="1120" dirty="0"/>
          </a:p>
        </p:txBody>
      </p:sp>
      <p:sp>
        <p:nvSpPr>
          <p:cNvPr id="31" name="Text 27"/>
          <p:cNvSpPr/>
          <p:nvPr/>
        </p:nvSpPr>
        <p:spPr>
          <a:xfrm>
            <a:off x="5765602" y="6509544"/>
            <a:ext cx="15628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sz="1120" dirty="0">
                <a:solidFill>
                  <a:srgbClr val="4F8EF7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20" dirty="0"/>
          </a:p>
        </p:txBody>
      </p:sp>
      <p:sp>
        <p:nvSpPr>
          <p:cNvPr id="32" name="Text 28"/>
          <p:cNvSpPr/>
          <p:nvPr/>
        </p:nvSpPr>
        <p:spPr>
          <a:xfrm>
            <a:off x="6041430" y="6509544"/>
            <a:ext cx="275536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sz="112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Decisions, Faster Approvals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593</Words>
  <Application>Microsoft Office PowerPoint</Application>
  <PresentationFormat>Widescreen</PresentationFormat>
  <Paragraphs>127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Review Copilot</dc:title>
  <dc:subject>PA Review Copilot</dc:subject>
  <dc:creator>OpenAI</dc:creator>
  <cp:lastModifiedBy>Ganesh Punde</cp:lastModifiedBy>
  <cp:revision>35</cp:revision>
  <dcterms:created xsi:type="dcterms:W3CDTF">2026-08-03T19:13:19Z</dcterms:created>
  <dcterms:modified xsi:type="dcterms:W3CDTF">2026-08-03T23:16:33Z</dcterms:modified>
</cp:coreProperties>
</file>